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2.svg" ContentType="image/svg+xml"/>
  <Override PartName="/ppt/media/image4.svg" ContentType="image/svg+xml"/>
  <Override PartName="/ppt/media/image6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51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51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bleStyles" Target="tableStyles.xml"/><Relationship Id="rId13" Type="http://schemas.openxmlformats.org/officeDocument/2006/relationships/viewProps" Target="viewProps.xml"/><Relationship Id="rId12" Type="http://schemas.openxmlformats.org/officeDocument/2006/relationships/presProps" Target="presProps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 panose="020B0604020202020204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 panose="020B0604020202020204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 panose="020B0604020202020204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 panose="020B0604020202020204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7.xml"/><Relationship Id="rId7" Type="http://schemas.openxmlformats.org/officeDocument/2006/relationships/image" Target="../media/image7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Relationship Id="rId3" Type="http://schemas.openxmlformats.org/officeDocument/2006/relationships/image" Target="../media/image3.png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9.GIF"/><Relationship Id="rId1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143000"/>
          </a:xfrm>
          <a:prstGeom prst="rect">
            <a:avLst/>
          </a:prstGeom>
          <a:solidFill>
            <a:srgbClr val="0E3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143000"/>
            <a:ext cx="1051560" cy="5715000"/>
          </a:xfrm>
          <a:prstGeom prst="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 rot="16200000">
            <a:off x="73152" y="3456432"/>
            <a:ext cx="960120" cy="27432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微软雅黑" panose="020B0503020204020204" charset="-122"/>
              </a:rPr>
              <a:t>SIEVOX</a:t>
            </a:r>
            <a:endParaRPr sz="16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17320" y="1600200"/>
            <a:ext cx="4180840" cy="43053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lang="en-US" sz="2800" b="1" i="0">
                <a:solidFill>
                  <a:srgbClr val="1F4F99"/>
                </a:solidFill>
                <a:latin typeface="微软雅黑" panose="020B0503020204020204" charset="-122"/>
              </a:rPr>
              <a:t>SIEVOX</a:t>
            </a:r>
            <a:r>
              <a:rPr sz="2800" b="1" i="0">
                <a:solidFill>
                  <a:srgbClr val="1F4F99"/>
                </a:solidFill>
                <a:latin typeface="微软雅黑" panose="020B0503020204020204" charset="-122"/>
              </a:rPr>
              <a:t>学生权益反馈系统</a:t>
            </a:r>
            <a:endParaRPr sz="28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17320" y="2057400"/>
            <a:ext cx="7680960" cy="8229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4400" b="1" i="0">
                <a:solidFill>
                  <a:srgbClr val="111827"/>
                </a:solidFill>
                <a:latin typeface="微软雅黑" panose="020B0503020204020204" charset="-122"/>
              </a:rPr>
              <a:t>短期与长期发展规划</a:t>
            </a:r>
            <a:endParaRPr sz="44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63040" y="2971800"/>
            <a:ext cx="8046720" cy="31089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800" b="0" i="0">
                <a:solidFill>
                  <a:srgbClr val="5D6B82"/>
                </a:solidFill>
                <a:latin typeface="微软雅黑" panose="020B0503020204020204" charset="-122"/>
              </a:rPr>
              <a:t>1-3个月夯实系统基础，3-12个月升级为 SIE 生活平台</a:t>
            </a:r>
            <a:endParaRPr sz="180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63040" y="3364992"/>
            <a:ext cx="7132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0" i="0">
                <a:solidFill>
                  <a:srgbClr val="6B7280"/>
                </a:solidFill>
                <a:latin typeface="微软雅黑" panose="020B0503020204020204" charset="-122"/>
              </a:rPr>
              <a:t>参考模板风格：蓝白学术汇报 / 模块化内容框 / 路线图表达</a:t>
            </a:r>
            <a:endParaRPr sz="1200" b="0" i="0">
              <a:solidFill>
                <a:srgbClr val="6B7280"/>
              </a:solidFill>
              <a:latin typeface="微软雅黑" panose="020B0503020204020204" charset="-122"/>
            </a:endParaRPr>
          </a:p>
        </p:txBody>
      </p:sp>
      <p:sp>
        <p:nvSpPr>
          <p:cNvPr id="9" name="Rounded Rectangle 8"/>
          <p:cNvSpPr/>
          <p:nvPr/>
        </p:nvSpPr>
        <p:spPr>
          <a:xfrm>
            <a:off x="1453896" y="4023359"/>
            <a:ext cx="9829800" cy="141732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1417320" y="3977639"/>
            <a:ext cx="9829800" cy="14173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B9D2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755648" y="4334256"/>
            <a:ext cx="566928" cy="566928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755648" y="4480560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P0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554480" y="4901184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微软雅黑" panose="020B0503020204020204" charset="-122"/>
              </a:rPr>
              <a:t>架构重构</a:t>
            </a:r>
            <a:endParaRPr sz="13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4" name="Chevron 13"/>
          <p:cNvSpPr/>
          <p:nvPr/>
        </p:nvSpPr>
        <p:spPr>
          <a:xfrm>
            <a:off x="2468880" y="4471416"/>
            <a:ext cx="246888" cy="29260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108960" y="4334256"/>
            <a:ext cx="566928" cy="566928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4480560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P1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907791" y="4901184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微软雅黑" panose="020B0503020204020204" charset="-122"/>
              </a:rPr>
              <a:t>UI升级</a:t>
            </a:r>
            <a:endParaRPr sz="13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3822191" y="4471416"/>
            <a:ext cx="246888" cy="29260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4462272" y="4334256"/>
            <a:ext cx="566928" cy="566928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62272" y="4480560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P2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261104" y="4901184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微软雅黑" panose="020B0503020204020204" charset="-122"/>
              </a:rPr>
              <a:t>资源共享</a:t>
            </a:r>
            <a:endParaRPr sz="13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5175504" y="4471416"/>
            <a:ext cx="246888" cy="29260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815583" y="4334256"/>
            <a:ext cx="566928" cy="566928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815583" y="4480560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P3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614416" y="4901184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微软雅黑" panose="020B0503020204020204" charset="-122"/>
              </a:rPr>
              <a:t>学科集成</a:t>
            </a:r>
            <a:endParaRPr sz="13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6528816" y="4471416"/>
            <a:ext cx="246888" cy="29260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168896" y="4334256"/>
            <a:ext cx="566928" cy="566928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168896" y="4480560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P4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6967728" y="4901184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微软雅黑" panose="020B0503020204020204" charset="-122"/>
              </a:rPr>
              <a:t>验证系统</a:t>
            </a:r>
            <a:endParaRPr sz="13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7882127" y="4471416"/>
            <a:ext cx="246888" cy="29260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8522208" y="4334256"/>
            <a:ext cx="566928" cy="566928"/>
          </a:xfrm>
          <a:prstGeom prst="ellipse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22208" y="4480560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P5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321040" y="4901184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微软雅黑" panose="020B0503020204020204" charset="-122"/>
              </a:rPr>
              <a:t>小程序</a:t>
            </a:r>
            <a:endParaRPr sz="13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4" name="Chevron 33"/>
          <p:cNvSpPr/>
          <p:nvPr/>
        </p:nvSpPr>
        <p:spPr>
          <a:xfrm>
            <a:off x="9235440" y="4471416"/>
            <a:ext cx="246888" cy="29260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875519" y="4334256"/>
            <a:ext cx="566928" cy="566928"/>
          </a:xfrm>
          <a:prstGeom prst="ellipse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875519" y="4480560"/>
            <a:ext cx="566928" cy="14630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微软雅黑" panose="020B0503020204020204" charset="-122"/>
              </a:rPr>
              <a:t>LT</a:t>
            </a:r>
            <a:endParaRPr sz="12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9674351" y="4901184"/>
            <a:ext cx="9601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50" b="1" i="0">
                <a:solidFill>
                  <a:srgbClr val="111827"/>
                </a:solidFill>
                <a:latin typeface="微软雅黑" panose="020B0503020204020204" charset="-122"/>
              </a:rPr>
              <a:t>平台化</a:t>
            </a:r>
            <a:endParaRPr sz="13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grpSp>
        <p:nvGrpSpPr>
          <p:cNvPr id="44" name="组合 43"/>
          <p:cNvGrpSpPr/>
          <p:nvPr/>
        </p:nvGrpSpPr>
        <p:grpSpPr>
          <a:xfrm>
            <a:off x="489585" y="214630"/>
            <a:ext cx="3252470" cy="675640"/>
            <a:chOff x="12006" y="232"/>
            <a:chExt cx="5122" cy="1064"/>
          </a:xfrm>
        </p:grpSpPr>
        <p:pic>
          <p:nvPicPr>
            <p:cNvPr id="40" name="图片 39" descr="北京化工大学 校徽 logo"/>
            <p:cNvPicPr>
              <a:picLocks noChangeAspect="1"/>
            </p:cNvPicPr>
            <p:nvPr/>
          </p:nvPicPr>
          <p:blipFill>
            <a:blip r:embed="rId1">
              <a:extLst>
                <a:ext uri="{96DAC541-7B7A-43D3-8B79-37D633B846F1}">
                  <asvg:svgBlip xmlns:asvg="http://schemas.microsoft.com/office/drawing/2016/SVG/main" r:embed="rId2"/>
                </a:ext>
              </a:extLst>
            </a:blip>
            <a:stretch>
              <a:fillRect/>
            </a:stretch>
          </p:blipFill>
          <p:spPr>
            <a:xfrm>
              <a:off x="12006" y="232"/>
              <a:ext cx="970" cy="965"/>
            </a:xfrm>
            <a:prstGeom prst="rect">
              <a:avLst/>
            </a:prstGeom>
          </p:spPr>
        </p:pic>
        <p:pic>
          <p:nvPicPr>
            <p:cNvPr id="41" name="图片 40" descr="北京化工大学 文字logo"/>
            <p:cNvPicPr>
              <a:picLocks noChangeAspect="1"/>
            </p:cNvPicPr>
            <p:nvPr/>
          </p:nvPicPr>
          <p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13020" y="338"/>
              <a:ext cx="2882" cy="859"/>
            </a:xfrm>
            <a:prstGeom prst="rect">
              <a:avLst/>
            </a:prstGeom>
          </p:spPr>
        </p:pic>
        <p:pic>
          <p:nvPicPr>
            <p:cNvPr id="42" name="图片 41" descr="SIE_LOGO"/>
            <p:cNvPicPr>
              <a:picLocks noChangeAspect="1"/>
            </p:cNvPicPr>
            <p:nvPr/>
          </p:nvPicPr>
          <p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16064" y="232"/>
              <a:ext cx="1065" cy="1065"/>
            </a:xfrm>
            <a:prstGeom prst="rect">
              <a:avLst/>
            </a:prstGeom>
          </p:spPr>
        </p:pic>
      </p:grpSp>
      <p:pic>
        <p:nvPicPr>
          <p:cNvPr id="43" name="图片 42" descr="LOGO_1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050530" y="1614805"/>
            <a:ext cx="2066925" cy="211201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"/>
            <a:ext cx="12191695" cy="786384"/>
          </a:xfrm>
          <a:prstGeom prst="round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" y="228600"/>
            <a:ext cx="12374575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312" y="109728"/>
            <a:ext cx="749808" cy="969264"/>
          </a:xfrm>
          <a:prstGeom prst="round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" y="429768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1.1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"/>
            <a:ext cx="6949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4F99"/>
                </a:solidFill>
                <a:latin typeface="微软雅黑" panose="020B0503020204020204" charset="-122"/>
              </a:rPr>
              <a:t>当前系统现状</a:t>
            </a:r>
            <a:endParaRPr sz="30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9496" y="1463040"/>
            <a:ext cx="6537960" cy="1874519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6537960" cy="1874519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2628900" y="1252728"/>
            <a:ext cx="228600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628900" y="1325880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能力基础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22960" y="1874519"/>
            <a:ext cx="411480" cy="411480"/>
          </a:xfrm>
          <a:prstGeom prst="ellipse">
            <a:avLst/>
          </a:prstGeom>
          <a:solidFill>
            <a:srgbClr val="EAF2FC"/>
          </a:solidFill>
          <a:ln w="1270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1984248"/>
            <a:ext cx="41148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764A9"/>
                </a:solidFill>
                <a:latin typeface="微软雅黑" panose="020B0503020204020204" charset="-122"/>
              </a:rPr>
              <a:t>1</a:t>
            </a:r>
            <a:endParaRPr sz="1100" b="1" i="0">
              <a:solidFill>
                <a:srgbClr val="1764A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325880" y="1810512"/>
            <a:ext cx="96012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F99"/>
                </a:solidFill>
                <a:latin typeface="微软雅黑" panose="020B0503020204020204" charset="-122"/>
              </a:rPr>
              <a:t>技术栈</a:t>
            </a:r>
            <a:endParaRPr sz="15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1325880" y="2148840"/>
            <a:ext cx="15087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11827"/>
                </a:solidFill>
                <a:latin typeface="微软雅黑" panose="020B0503020204020204" charset="-122"/>
              </a:rPr>
              <a:t>React18 / Vite / Tailwind
Express / MongoDB</a:t>
            </a:r>
            <a:endParaRPr sz="112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Oval 18"/>
          <p:cNvSpPr/>
          <p:nvPr/>
        </p:nvSpPr>
        <p:spPr>
          <a:xfrm>
            <a:off x="3063240" y="1874519"/>
            <a:ext cx="411480" cy="411480"/>
          </a:xfrm>
          <a:prstGeom prst="ellipse">
            <a:avLst/>
          </a:prstGeom>
          <a:solidFill>
            <a:srgbClr val="EAF2FC"/>
          </a:solidFill>
          <a:ln w="1270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063240" y="1984248"/>
            <a:ext cx="41148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764A9"/>
                </a:solidFill>
                <a:latin typeface="微软雅黑" panose="020B0503020204020204" charset="-122"/>
              </a:rPr>
              <a:t>2</a:t>
            </a:r>
            <a:endParaRPr sz="1100" b="1" i="0">
              <a:solidFill>
                <a:srgbClr val="1764A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66160" y="1810512"/>
            <a:ext cx="96012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F99"/>
                </a:solidFill>
                <a:latin typeface="微软雅黑" panose="020B0503020204020204" charset="-122"/>
              </a:rPr>
              <a:t>已上线</a:t>
            </a:r>
            <a:endParaRPr sz="15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566160" y="2148840"/>
            <a:ext cx="15087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11827"/>
                </a:solidFill>
                <a:latin typeface="微软雅黑" panose="020B0503020204020204" charset="-122"/>
              </a:rPr>
              <a:t>反馈 / 通知 / JWT
绩效 / 归档 / HTTPS</a:t>
            </a:r>
            <a:endParaRPr sz="112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Oval 22"/>
          <p:cNvSpPr/>
          <p:nvPr/>
        </p:nvSpPr>
        <p:spPr>
          <a:xfrm>
            <a:off x="5285232" y="1874519"/>
            <a:ext cx="411480" cy="411480"/>
          </a:xfrm>
          <a:prstGeom prst="ellipse">
            <a:avLst/>
          </a:prstGeom>
          <a:solidFill>
            <a:srgbClr val="EAF2FC"/>
          </a:solidFill>
          <a:ln w="1270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285232" y="1984248"/>
            <a:ext cx="411480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1764A9"/>
                </a:solidFill>
                <a:latin typeface="微软雅黑" panose="020B0503020204020204" charset="-122"/>
              </a:rPr>
              <a:t>3</a:t>
            </a:r>
            <a:endParaRPr sz="1100" b="1" i="0">
              <a:solidFill>
                <a:srgbClr val="1764A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5788152" y="1810512"/>
            <a:ext cx="960120" cy="2103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F99"/>
                </a:solidFill>
                <a:latin typeface="微软雅黑" panose="020B0503020204020204" charset="-122"/>
              </a:rPr>
              <a:t>使用目标</a:t>
            </a:r>
            <a:endParaRPr sz="15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5788152" y="2148840"/>
            <a:ext cx="150876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11827"/>
                </a:solidFill>
                <a:latin typeface="微软雅黑" panose="020B0503020204020204" charset="-122"/>
              </a:rPr>
              <a:t>权益反馈闭环
学生事务协同入口</a:t>
            </a:r>
            <a:endParaRPr sz="112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7580375" y="1463040"/>
            <a:ext cx="3977639" cy="416052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7543800" y="1417320"/>
            <a:ext cx="3977639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8389620" y="1252728"/>
            <a:ext cx="228600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389620" y="1325880"/>
            <a:ext cx="22860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结构瓶颈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7882127" y="1938528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微软雅黑" panose="020B0503020204020204" charset="-122"/>
              </a:rPr>
              <a:t>server.js</a:t>
            </a:r>
            <a:endParaRPr sz="13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9281160" y="1975104"/>
            <a:ext cx="1645920" cy="155448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9281160" y="1975104"/>
            <a:ext cx="1376172" cy="155448"/>
          </a:xfrm>
          <a:prstGeom prst="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1018520" y="1929384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D6B82"/>
                </a:solidFill>
                <a:latin typeface="微软雅黑" panose="020B0503020204020204" charset="-122"/>
              </a:rPr>
              <a:t>1505行</a:t>
            </a:r>
            <a:endParaRPr sz="110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882127" y="2688336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微软雅黑" panose="020B0503020204020204" charset="-122"/>
              </a:rPr>
              <a:t>App.jsx</a:t>
            </a:r>
            <a:endParaRPr sz="13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9281160" y="2724912"/>
            <a:ext cx="1645920" cy="155448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ectangle 36"/>
          <p:cNvSpPr/>
          <p:nvPr/>
        </p:nvSpPr>
        <p:spPr>
          <a:xfrm>
            <a:off x="9281160" y="2724912"/>
            <a:ext cx="1130198" cy="155448"/>
          </a:xfrm>
          <a:prstGeom prst="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018520" y="2679192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D6B82"/>
                </a:solidFill>
                <a:latin typeface="微软雅黑" panose="020B0503020204020204" charset="-122"/>
              </a:rPr>
              <a:t>1236行</a:t>
            </a:r>
            <a:endParaRPr sz="110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882127" y="3438144"/>
            <a:ext cx="141732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11827"/>
                </a:solidFill>
                <a:latin typeface="微软雅黑" panose="020B0503020204020204" charset="-122"/>
              </a:rPr>
              <a:t>AdminDash.jsx</a:t>
            </a:r>
            <a:endParaRPr sz="13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9281160" y="3474720"/>
            <a:ext cx="1645920" cy="155448"/>
          </a:xfrm>
          <a:prstGeom prst="rect">
            <a:avLst/>
          </a:prstGeom>
          <a:solidFill>
            <a:srgbClr val="DFE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9281160" y="3474720"/>
            <a:ext cx="1631289" cy="1554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1018520" y="3429000"/>
            <a:ext cx="502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r"/>
            <a:r>
              <a:rPr sz="1100" b="0" i="0">
                <a:solidFill>
                  <a:srgbClr val="5D6B82"/>
                </a:solidFill>
                <a:latin typeface="微软雅黑" panose="020B0503020204020204" charset="-122"/>
              </a:rPr>
              <a:t>1784行</a:t>
            </a:r>
            <a:endParaRPr sz="110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818120" y="4224528"/>
            <a:ext cx="3246120" cy="82296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后端单文件承载配置、模型、路由与业务逻辑</a:t>
            </a:r>
          </a:p>
          <a:p>
            <a:pPr>
              <a:spcAft>
                <a:spcPts val="400"/>
              </a:spcAft>
              <a:defRPr sz="12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前端页面过重，缺少 React Router 与领域拆分</a:t>
            </a:r>
          </a:p>
          <a:p>
            <a:pPr>
              <a:spcAft>
                <a:spcPts val="400"/>
              </a:spcAft>
              <a:defRPr sz="12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轮询更新与玻璃态视觉增加维护成本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539496" y="3840480"/>
            <a:ext cx="6537960" cy="160020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ounded Rectangle 44"/>
          <p:cNvSpPr/>
          <p:nvPr/>
        </p:nvSpPr>
        <p:spPr>
          <a:xfrm>
            <a:off x="502920" y="3794760"/>
            <a:ext cx="6537960" cy="16002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41248" y="4096512"/>
            <a:ext cx="1097280" cy="22860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600" b="1" i="0">
                <a:solidFill>
                  <a:srgbClr val="1F4F99"/>
                </a:solidFill>
                <a:latin typeface="微软雅黑" panose="020B0503020204020204" charset="-122"/>
              </a:rPr>
              <a:t>规划判断</a:t>
            </a:r>
            <a:endParaRPr sz="16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1828800" y="3968496"/>
            <a:ext cx="4526280" cy="6583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50" b="1" i="0">
                <a:solidFill>
                  <a:srgbClr val="111827"/>
                </a:solidFill>
                <a:latin typeface="微软雅黑" panose="020B0503020204020204" charset="-122"/>
              </a:rPr>
              <a:t>先重构再扩展：把系统拆成可维护的模块，
支撑后续资源共享、问卷、验证、小程序与平台化。</a:t>
            </a:r>
            <a:endParaRPr sz="17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8691880" y="192405"/>
            <a:ext cx="3362325" cy="922020"/>
            <a:chOff x="12833" y="55"/>
            <a:chExt cx="5372" cy="1582"/>
          </a:xfrm>
        </p:grpSpPr>
        <p:pic>
          <p:nvPicPr>
            <p:cNvPr id="53" name="图片 52" descr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33" y="171"/>
              <a:ext cx="3790" cy="1058"/>
            </a:xfrm>
            <a:prstGeom prst="rect">
              <a:avLst/>
            </a:prstGeom>
          </p:spPr>
        </p:pic>
        <p:pic>
          <p:nvPicPr>
            <p:cNvPr id="54" name="图片 53" descr="SIE_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3" y="55"/>
              <a:ext cx="1583" cy="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"/>
            <a:ext cx="12191695" cy="786384"/>
          </a:xfrm>
          <a:prstGeom prst="round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" y="228600"/>
            <a:ext cx="12374575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312" y="109728"/>
            <a:ext cx="749808" cy="969264"/>
          </a:xfrm>
          <a:prstGeom prst="round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" y="429768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2.1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"/>
            <a:ext cx="6949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4F99"/>
                </a:solidFill>
                <a:latin typeface="微软雅黑" panose="020B0503020204020204" charset="-122"/>
              </a:rPr>
              <a:t>P0 架构重构：基础前提</a:t>
            </a:r>
            <a:endParaRPr sz="30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9496" y="1490472"/>
            <a:ext cx="5257800" cy="420624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444752"/>
            <a:ext cx="5257800" cy="4206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943100" y="1280160"/>
            <a:ext cx="237744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943100" y="1353312"/>
            <a:ext cx="23774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后端模块化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874519"/>
            <a:ext cx="4480560" cy="146304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config：环境变量、数据库连接</a:t>
            </a:r>
          </a:p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models：User / Feedback / AuditLog...</a:t>
            </a:r>
          </a:p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middleware：auth、security、validate</a:t>
            </a:r>
          </a:p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routes：auth、feedback、admin/*</a:t>
            </a:r>
          </a:p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server.js：仅保留导入、挂载与启动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4041648"/>
            <a:ext cx="4434840" cy="43891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4F99"/>
                </a:solidFill>
                <a:latin typeface="微软雅黑" panose="020B0503020204020204" charset="-122"/>
              </a:rPr>
              <a:t>目标：从 1505 行单体后端，拆为清晰边界的业务模块。</a:t>
            </a:r>
            <a:endParaRPr sz="17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7" name="Rounded Rectangle 16"/>
          <p:cNvSpPr/>
          <p:nvPr/>
        </p:nvSpPr>
        <p:spPr>
          <a:xfrm>
            <a:off x="6483096" y="1490472"/>
            <a:ext cx="5257800" cy="420624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446520" y="1444752"/>
            <a:ext cx="5257800" cy="42062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886700" y="1280160"/>
            <a:ext cx="237744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886700" y="1353312"/>
            <a:ext cx="23774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前端模块化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12280" y="1874519"/>
            <a:ext cx="4480560" cy="146304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api：集中式 fetch client + 按域拆分</a:t>
            </a:r>
          </a:p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components/ui：Button、Card、Modal、Tabs</a:t>
            </a:r>
          </a:p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pages：auth / student / admin</a:t>
            </a:r>
          </a:p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hooks：useAuth、useFeedbacks、usePerformance</a:t>
            </a:r>
          </a:p>
          <a:p>
            <a:pPr>
              <a:spcAft>
                <a:spcPts val="400"/>
              </a:spcAft>
              <a:defRPr sz="13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App.jsx：仅保留路由配置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812280" y="3977639"/>
            <a:ext cx="4160520" cy="5303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20" b="1" i="0">
                <a:solidFill>
                  <a:srgbClr val="1F4F99"/>
                </a:solidFill>
                <a:latin typeface="微软雅黑" panose="020B0503020204020204" charset="-122"/>
              </a:rPr>
              <a:t>新增依赖：react-router-dom / sonner
socket.io + socket.io-client</a:t>
            </a:r>
            <a:endParaRPr sz="152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3" name="Chevron 22"/>
          <p:cNvSpPr/>
          <p:nvPr/>
        </p:nvSpPr>
        <p:spPr>
          <a:xfrm>
            <a:off x="5879592" y="2926080"/>
            <a:ext cx="411480" cy="56692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554480" y="5989320"/>
            <a:ext cx="909828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5D6B82"/>
                </a:solidFill>
                <a:latin typeface="微软雅黑" panose="020B0503020204020204" charset="-122"/>
              </a:rPr>
              <a:t>第1-2周完成；所有既有 API 与页面行为保持一致</a:t>
            </a:r>
            <a:endParaRPr sz="160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8691880" y="192405"/>
            <a:ext cx="3362325" cy="922020"/>
            <a:chOff x="12833" y="55"/>
            <a:chExt cx="5372" cy="1582"/>
          </a:xfrm>
        </p:grpSpPr>
        <p:pic>
          <p:nvPicPr>
            <p:cNvPr id="53" name="图片 52" descr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33" y="171"/>
              <a:ext cx="3790" cy="1058"/>
            </a:xfrm>
            <a:prstGeom prst="rect">
              <a:avLst/>
            </a:prstGeom>
          </p:spPr>
        </p:pic>
        <p:pic>
          <p:nvPicPr>
            <p:cNvPr id="54" name="图片 53" descr="SIE_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3" y="55"/>
              <a:ext cx="1583" cy="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"/>
            <a:ext cx="12191695" cy="786384"/>
          </a:xfrm>
          <a:prstGeom prst="round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" y="228600"/>
            <a:ext cx="12374575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312" y="109728"/>
            <a:ext cx="749808" cy="969264"/>
          </a:xfrm>
          <a:prstGeom prst="round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" y="429768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2.2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"/>
            <a:ext cx="6949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4F99"/>
                </a:solidFill>
                <a:latin typeface="微软雅黑" panose="020B0503020204020204" charset="-122"/>
              </a:rPr>
              <a:t>P1 UI升级：Material Design 3</a:t>
            </a:r>
            <a:endParaRPr sz="30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9496" y="1463040"/>
            <a:ext cx="3749039" cy="438912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3749039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348739" y="1252728"/>
            <a:ext cx="205740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348739" y="1325880"/>
            <a:ext cx="20574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视觉系统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868680" y="1892807"/>
            <a:ext cx="502920" cy="301752"/>
          </a:xfrm>
          <a:prstGeom prst="roundRect">
            <a:avLst/>
          </a:prstGeom>
          <a:solidFill>
            <a:srgbClr val="6750A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1481328" y="1892807"/>
            <a:ext cx="50292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2093976" y="1892807"/>
            <a:ext cx="502920" cy="301752"/>
          </a:xfrm>
          <a:prstGeom prst="roundRect">
            <a:avLst/>
          </a:prstGeom>
          <a:solidFill>
            <a:srgbClr val="202124"/>
          </a:solidFill>
          <a:ln w="12700">
            <a:solidFill>
              <a:srgbClr val="6750A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88920" y="1947672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微软雅黑" panose="020B0503020204020204" charset="-122"/>
              </a:rPr>
              <a:t>紫</a:t>
            </a:r>
            <a:endParaRPr sz="12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9" name="Rounded Rectangle 18"/>
          <p:cNvSpPr/>
          <p:nvPr/>
        </p:nvSpPr>
        <p:spPr>
          <a:xfrm>
            <a:off x="868680" y="2423160"/>
            <a:ext cx="502920" cy="301752"/>
          </a:xfrm>
          <a:prstGeom prst="roundRect">
            <a:avLst/>
          </a:prstGeom>
          <a:solidFill>
            <a:srgbClr val="0B57D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1481328" y="2423160"/>
            <a:ext cx="50292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2093976" y="2423160"/>
            <a:ext cx="502920" cy="301752"/>
          </a:xfrm>
          <a:prstGeom prst="roundRect">
            <a:avLst/>
          </a:prstGeom>
          <a:solidFill>
            <a:srgbClr val="202124"/>
          </a:solidFill>
          <a:ln w="12700">
            <a:solidFill>
              <a:srgbClr val="0B57D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788920" y="2478024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微软雅黑" panose="020B0503020204020204" charset="-122"/>
              </a:rPr>
              <a:t>蓝</a:t>
            </a:r>
            <a:endParaRPr sz="12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Rounded Rectangle 22"/>
          <p:cNvSpPr/>
          <p:nvPr/>
        </p:nvSpPr>
        <p:spPr>
          <a:xfrm>
            <a:off x="868680" y="2953511"/>
            <a:ext cx="502920" cy="301752"/>
          </a:xfrm>
          <a:prstGeom prst="roundRect">
            <a:avLst/>
          </a:prstGeom>
          <a:solidFill>
            <a:srgbClr val="146C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481328" y="2953511"/>
            <a:ext cx="50292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46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2093976" y="2953511"/>
            <a:ext cx="502920" cy="301752"/>
          </a:xfrm>
          <a:prstGeom prst="roundRect">
            <a:avLst/>
          </a:prstGeom>
          <a:solidFill>
            <a:srgbClr val="202124"/>
          </a:solidFill>
          <a:ln w="12700">
            <a:solidFill>
              <a:srgbClr val="146C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2788920" y="3008375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微软雅黑" panose="020B0503020204020204" charset="-122"/>
              </a:rPr>
              <a:t>绿</a:t>
            </a:r>
            <a:endParaRPr sz="12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7" name="Rounded Rectangle 26"/>
          <p:cNvSpPr/>
          <p:nvPr/>
        </p:nvSpPr>
        <p:spPr>
          <a:xfrm>
            <a:off x="868680" y="3483863"/>
            <a:ext cx="502920" cy="301752"/>
          </a:xfrm>
          <a:prstGeom prst="roundRect">
            <a:avLst/>
          </a:prstGeom>
          <a:solidFill>
            <a:srgbClr val="C45A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81328" y="3483863"/>
            <a:ext cx="50292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2093976" y="3483863"/>
            <a:ext cx="502920" cy="301752"/>
          </a:xfrm>
          <a:prstGeom prst="roundRect">
            <a:avLst/>
          </a:prstGeom>
          <a:solidFill>
            <a:srgbClr val="202124"/>
          </a:solidFill>
          <a:ln w="12700">
            <a:solidFill>
              <a:srgbClr val="C45A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2788920" y="3538727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微软雅黑" panose="020B0503020204020204" charset="-122"/>
              </a:rPr>
              <a:t>橙</a:t>
            </a:r>
            <a:endParaRPr sz="12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1" name="Rounded Rectangle 30"/>
          <p:cNvSpPr/>
          <p:nvPr/>
        </p:nvSpPr>
        <p:spPr>
          <a:xfrm>
            <a:off x="868680" y="4014215"/>
            <a:ext cx="502920" cy="301752"/>
          </a:xfrm>
          <a:prstGeom prst="roundRect">
            <a:avLst/>
          </a:prstGeom>
          <a:solidFill>
            <a:srgbClr val="006A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481328" y="4014215"/>
            <a:ext cx="502920" cy="301752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2093976" y="4014215"/>
            <a:ext cx="502920" cy="301752"/>
          </a:xfrm>
          <a:prstGeom prst="roundRect">
            <a:avLst/>
          </a:prstGeom>
          <a:solidFill>
            <a:srgbClr val="202124"/>
          </a:solidFill>
          <a:ln w="12700">
            <a:solidFill>
              <a:srgbClr val="006A6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2788920" y="4069079"/>
            <a:ext cx="384048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00" b="1" i="0">
                <a:solidFill>
                  <a:srgbClr val="111827"/>
                </a:solidFill>
                <a:latin typeface="微软雅黑" panose="020B0503020204020204" charset="-122"/>
              </a:rPr>
              <a:t>青</a:t>
            </a:r>
            <a:endParaRPr sz="120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68680" y="4800600"/>
            <a:ext cx="2971800" cy="3474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700" b="1" i="0">
                <a:solidFill>
                  <a:srgbClr val="1F4F99"/>
                </a:solidFill>
                <a:latin typeface="微软雅黑" panose="020B0503020204020204" charset="-122"/>
              </a:rPr>
              <a:t>5套配色 × 深浅模式 = 10种视觉方案</a:t>
            </a:r>
            <a:endParaRPr sz="17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36" name="Rounded Rectangle 35"/>
          <p:cNvSpPr/>
          <p:nvPr/>
        </p:nvSpPr>
        <p:spPr>
          <a:xfrm>
            <a:off x="4562856" y="1463040"/>
            <a:ext cx="3337560" cy="438912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4526280" y="1417320"/>
            <a:ext cx="3337560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5166360" y="1252728"/>
            <a:ext cx="205740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166360" y="1325880"/>
            <a:ext cx="20574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组件重构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0" name="Rounded Rectangle 39"/>
          <p:cNvSpPr/>
          <p:nvPr/>
        </p:nvSpPr>
        <p:spPr>
          <a:xfrm>
            <a:off x="4892040" y="1828800"/>
            <a:ext cx="1051560" cy="32004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956048" y="1911095"/>
            <a:ext cx="91440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F4F99"/>
                </a:solidFill>
                <a:latin typeface="微软雅黑" panose="020B0503020204020204" charset="-122"/>
              </a:rPr>
              <a:t>Button</a:t>
            </a:r>
            <a:endParaRPr sz="10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6089904" y="1883664"/>
            <a:ext cx="135331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11827"/>
                </a:solidFill>
                <a:latin typeface="微软雅黑" panose="020B0503020204020204" charset="-122"/>
              </a:rPr>
              <a:t>filled / tonal / outlined / text</a:t>
            </a:r>
            <a:endParaRPr sz="112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3" name="Rounded Rectangle 42"/>
          <p:cNvSpPr/>
          <p:nvPr/>
        </p:nvSpPr>
        <p:spPr>
          <a:xfrm>
            <a:off x="4892040" y="2487168"/>
            <a:ext cx="1051560" cy="32004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956048" y="2569463"/>
            <a:ext cx="91440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F4F99"/>
                </a:solidFill>
                <a:latin typeface="微软雅黑" panose="020B0503020204020204" charset="-122"/>
              </a:rPr>
              <a:t>Card</a:t>
            </a:r>
            <a:endParaRPr sz="10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089904" y="2542032"/>
            <a:ext cx="135331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11827"/>
                </a:solidFill>
                <a:latin typeface="微软雅黑" panose="020B0503020204020204" charset="-122"/>
              </a:rPr>
              <a:t>elevated / outlined / filled</a:t>
            </a:r>
            <a:endParaRPr sz="112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4892040" y="3145536"/>
            <a:ext cx="1051560" cy="32004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956048" y="3227832"/>
            <a:ext cx="91440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F4F99"/>
                </a:solidFill>
                <a:latin typeface="微软雅黑" panose="020B0503020204020204" charset="-122"/>
              </a:rPr>
              <a:t>Input</a:t>
            </a:r>
            <a:endParaRPr sz="10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6089904" y="3200400"/>
            <a:ext cx="135331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11827"/>
                </a:solidFill>
                <a:latin typeface="微软雅黑" panose="020B0503020204020204" charset="-122"/>
              </a:rPr>
              <a:t>MD3 Outlined</a:t>
            </a:r>
            <a:endParaRPr sz="112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4892040" y="3803904"/>
            <a:ext cx="1051560" cy="320040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956048" y="3886200"/>
            <a:ext cx="914400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50" b="1" i="0">
                <a:solidFill>
                  <a:srgbClr val="1F4F99"/>
                </a:solidFill>
                <a:latin typeface="微软雅黑" panose="020B0503020204020204" charset="-122"/>
              </a:rPr>
              <a:t>Icon</a:t>
            </a:r>
            <a:endParaRPr sz="10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6089904" y="3858768"/>
            <a:ext cx="1353312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20" b="0" i="0">
                <a:solidFill>
                  <a:srgbClr val="111827"/>
                </a:solidFill>
                <a:latin typeface="微软雅黑" panose="020B0503020204020204" charset="-122"/>
              </a:rPr>
              <a:t>emoji → Material Symbols</a:t>
            </a:r>
            <a:endParaRPr sz="112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4892040" y="4681728"/>
            <a:ext cx="2651760" cy="4114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50" b="0" i="0">
                <a:solidFill>
                  <a:srgbClr val="5D6B82"/>
                </a:solidFill>
                <a:latin typeface="微软雅黑" panose="020B0503020204020204" charset="-122"/>
              </a:rPr>
              <a:t>纯前端 CSS 和组件重构
无后端改动</a:t>
            </a:r>
            <a:endParaRPr sz="15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53" name="Rounded Rectangle 52"/>
          <p:cNvSpPr/>
          <p:nvPr/>
        </p:nvSpPr>
        <p:spPr>
          <a:xfrm>
            <a:off x="8174736" y="1463040"/>
            <a:ext cx="3520440" cy="438912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ounded Rectangle 53"/>
          <p:cNvSpPr/>
          <p:nvPr/>
        </p:nvSpPr>
        <p:spPr>
          <a:xfrm>
            <a:off x="8138160" y="1417320"/>
            <a:ext cx="3520440" cy="43891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8686800" y="1252728"/>
            <a:ext cx="242316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8686800" y="1325880"/>
            <a:ext cx="24231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去AI味与移动端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8485632" y="1847088"/>
            <a:ext cx="2743200" cy="178308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2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删除浮动光球、点阵网格、渐变文字</a:t>
            </a:r>
          </a:p>
          <a:p>
            <a:pPr>
              <a:spcAft>
                <a:spcPts val="400"/>
              </a:spcAft>
              <a:defRPr sz="12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移除玻璃态与自定义滚动条渐变</a:t>
            </a:r>
          </a:p>
          <a:p>
            <a:pPr>
              <a:spcAft>
                <a:spcPts val="400"/>
              </a:spcAft>
              <a:defRPr sz="12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&lt;769px 底部导航，触控尺寸优化</a:t>
            </a:r>
          </a:p>
          <a:p>
            <a:pPr>
              <a:spcAft>
                <a:spcPts val="400"/>
              </a:spcAft>
              <a:defRPr sz="12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登录页：桌面左右分栏，手机居中卡片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741664" y="3986784"/>
            <a:ext cx="1298448" cy="1335024"/>
          </a:xfrm>
          <a:prstGeom prst="roundRect">
            <a:avLst/>
          </a:prstGeom>
          <a:solidFill>
            <a:srgbClr val="F8FBFF"/>
          </a:solidFill>
          <a:ln w="1524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ounded Rectangle 58"/>
          <p:cNvSpPr/>
          <p:nvPr/>
        </p:nvSpPr>
        <p:spPr>
          <a:xfrm>
            <a:off x="8961120" y="4270248"/>
            <a:ext cx="859536" cy="73152"/>
          </a:xfrm>
          <a:prstGeom prst="roundRect">
            <a:avLst/>
          </a:prstGeom>
          <a:solidFill>
            <a:srgbClr val="AF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961120" y="4480560"/>
            <a:ext cx="859536" cy="73152"/>
          </a:xfrm>
          <a:prstGeom prst="roundRect">
            <a:avLst/>
          </a:prstGeom>
          <a:solidFill>
            <a:srgbClr val="AF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8961120" y="4690872"/>
            <a:ext cx="859536" cy="73152"/>
          </a:xfrm>
          <a:prstGeom prst="roundRect">
            <a:avLst/>
          </a:prstGeom>
          <a:solidFill>
            <a:srgbClr val="AFC8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8851392" y="5047488"/>
            <a:ext cx="1078992" cy="146304"/>
          </a:xfrm>
          <a:prstGeom prst="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4572000" y="6080760"/>
            <a:ext cx="306324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500" b="1" i="0">
                <a:solidFill>
                  <a:srgbClr val="1F4F99"/>
                </a:solidFill>
                <a:latin typeface="微软雅黑" panose="020B0503020204020204" charset="-122"/>
              </a:rPr>
              <a:t>优先级最高：第2-4周</a:t>
            </a:r>
            <a:endParaRPr sz="15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grpSp>
        <p:nvGrpSpPr>
          <p:cNvPr id="64" name="组合 63"/>
          <p:cNvGrpSpPr/>
          <p:nvPr/>
        </p:nvGrpSpPr>
        <p:grpSpPr>
          <a:xfrm>
            <a:off x="8691880" y="192405"/>
            <a:ext cx="3362325" cy="922020"/>
            <a:chOff x="12833" y="55"/>
            <a:chExt cx="5372" cy="1582"/>
          </a:xfrm>
        </p:grpSpPr>
        <p:pic>
          <p:nvPicPr>
            <p:cNvPr id="65" name="图片 64" descr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33" y="171"/>
              <a:ext cx="3790" cy="1058"/>
            </a:xfrm>
            <a:prstGeom prst="rect">
              <a:avLst/>
            </a:prstGeom>
          </p:spPr>
        </p:pic>
        <p:pic>
          <p:nvPicPr>
            <p:cNvPr id="66" name="图片 65" descr="SIE_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3" y="55"/>
              <a:ext cx="1583" cy="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"/>
            <a:ext cx="12191695" cy="786384"/>
          </a:xfrm>
          <a:prstGeom prst="round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" y="228600"/>
            <a:ext cx="12374575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312" y="109728"/>
            <a:ext cx="749808" cy="969264"/>
          </a:xfrm>
          <a:prstGeom prst="round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" y="429768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3.1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"/>
            <a:ext cx="6949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4F99"/>
                </a:solidFill>
                <a:latin typeface="微软雅黑" panose="020B0503020204020204" charset="-122"/>
              </a:rPr>
              <a:t>P2 资源共享平台</a:t>
            </a:r>
            <a:endParaRPr sz="30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9496" y="1435608"/>
            <a:ext cx="11173968" cy="2176272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389888"/>
            <a:ext cx="11173968" cy="217627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06824" y="1225296"/>
            <a:ext cx="356616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06824" y="1298448"/>
            <a:ext cx="35661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上传-审核-浏览-下载闭环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Rounded Rectangle 14"/>
          <p:cNvSpPr/>
          <p:nvPr/>
        </p:nvSpPr>
        <p:spPr>
          <a:xfrm>
            <a:off x="960120" y="1901952"/>
            <a:ext cx="1691640" cy="749808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69848" y="2029968"/>
            <a:ext cx="146304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F4F99"/>
                </a:solidFill>
                <a:latin typeface="微软雅黑" panose="020B0503020204020204" charset="-122"/>
              </a:rPr>
              <a:t>上传资源</a:t>
            </a:r>
            <a:endParaRPr sz="14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69848" y="2304288"/>
            <a:ext cx="146304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80" b="0" i="0">
                <a:solidFill>
                  <a:srgbClr val="5D6B82"/>
                </a:solidFill>
                <a:latin typeface="微软雅黑" panose="020B0503020204020204" charset="-122"/>
              </a:rPr>
              <a:t>PDF/DOCX/ZIP/图片</a:t>
            </a:r>
            <a:endParaRPr sz="98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18" name="Chevron 17"/>
          <p:cNvSpPr/>
          <p:nvPr/>
        </p:nvSpPr>
        <p:spPr>
          <a:xfrm>
            <a:off x="2834639" y="2121408"/>
            <a:ext cx="329184" cy="310896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3474720" y="1901952"/>
            <a:ext cx="1691640" cy="749808"/>
          </a:xfrm>
          <a:prstGeom prst="roundRect">
            <a:avLst/>
          </a:prstGeom>
          <a:solidFill>
            <a:srgbClr val="FFF4DC"/>
          </a:solidFill>
          <a:ln w="12700">
            <a:solidFill>
              <a:srgbClr val="F5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2029968"/>
            <a:ext cx="146304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F4F99"/>
                </a:solidFill>
                <a:latin typeface="微软雅黑" panose="020B0503020204020204" charset="-122"/>
              </a:rPr>
              <a:t>管理员审核</a:t>
            </a:r>
            <a:endParaRPr sz="14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3584448" y="2304288"/>
            <a:ext cx="146304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80" b="0" i="0">
                <a:solidFill>
                  <a:srgbClr val="5D6B82"/>
                </a:solidFill>
                <a:latin typeface="微软雅黑" panose="020B0503020204020204" charset="-122"/>
              </a:rPr>
              <a:t>待审核/通过/拒绝</a:t>
            </a:r>
            <a:endParaRPr sz="98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22" name="Chevron 21"/>
          <p:cNvSpPr/>
          <p:nvPr/>
        </p:nvSpPr>
        <p:spPr>
          <a:xfrm>
            <a:off x="5349240" y="2121408"/>
            <a:ext cx="329184" cy="310896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5989320" y="1901952"/>
            <a:ext cx="1691640" cy="749808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99048" y="2029968"/>
            <a:ext cx="146304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F4F99"/>
                </a:solidFill>
                <a:latin typeface="微软雅黑" panose="020B0503020204020204" charset="-122"/>
              </a:rPr>
              <a:t>资源中心</a:t>
            </a:r>
            <a:endParaRPr sz="14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6099048" y="2304288"/>
            <a:ext cx="146304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80" b="0" i="0">
                <a:solidFill>
                  <a:srgbClr val="5D6B82"/>
                </a:solidFill>
                <a:latin typeface="微软雅黑" panose="020B0503020204020204" charset="-122"/>
              </a:rPr>
              <a:t>分类/标签筛选</a:t>
            </a:r>
            <a:endParaRPr sz="98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26" name="Chevron 25"/>
          <p:cNvSpPr/>
          <p:nvPr/>
        </p:nvSpPr>
        <p:spPr>
          <a:xfrm>
            <a:off x="7863840" y="2121408"/>
            <a:ext cx="329184" cy="310896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503920" y="1901952"/>
            <a:ext cx="1691640" cy="749808"/>
          </a:xfrm>
          <a:prstGeom prst="roundRect">
            <a:avLst/>
          </a:prstGeom>
          <a:solidFill>
            <a:srgbClr val="EAF2FC"/>
          </a:solidFill>
          <a:ln w="1270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613648" y="2029968"/>
            <a:ext cx="146304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00" b="1" i="0">
                <a:solidFill>
                  <a:srgbClr val="1F4F99"/>
                </a:solidFill>
                <a:latin typeface="微软雅黑" panose="020B0503020204020204" charset="-122"/>
              </a:rPr>
              <a:t>下载计数</a:t>
            </a:r>
            <a:endParaRPr sz="14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613648" y="2304288"/>
            <a:ext cx="146304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80" b="0" i="0">
                <a:solidFill>
                  <a:srgbClr val="5D6B82"/>
                </a:solidFill>
                <a:latin typeface="微软雅黑" panose="020B0503020204020204" charset="-122"/>
              </a:rPr>
              <a:t>详情页自动统计</a:t>
            </a:r>
            <a:endParaRPr sz="98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30" name="Rounded Rectangle 29"/>
          <p:cNvSpPr/>
          <p:nvPr/>
        </p:nvSpPr>
        <p:spPr>
          <a:xfrm>
            <a:off x="539496" y="4023359"/>
            <a:ext cx="5303520" cy="169164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502920" y="3977639"/>
            <a:ext cx="5303520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1783080" y="3813048"/>
            <a:ext cx="274320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783080" y="3886200"/>
            <a:ext cx="27432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Resource 数据模型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68680" y="4407408"/>
            <a:ext cx="4389120" cy="86868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27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标题、描述、分类、标签、附件</a:t>
            </a:r>
          </a:p>
          <a:p>
            <a:pPr>
              <a:spcAft>
                <a:spcPts val="400"/>
              </a:spcAft>
              <a:defRPr sz="127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上传者、审核状态、审核人、下载次数</a:t>
            </a:r>
          </a:p>
          <a:p>
            <a:pPr>
              <a:spcAft>
                <a:spcPts val="400"/>
              </a:spcAft>
              <a:defRPr sz="127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isExclusive：标记「独门秘笈」资料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6391656" y="4023359"/>
            <a:ext cx="5321808" cy="169164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6355080" y="3977639"/>
            <a:ext cx="5321808" cy="169164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Rounded Rectangle 36"/>
          <p:cNvSpPr/>
          <p:nvPr/>
        </p:nvSpPr>
        <p:spPr>
          <a:xfrm>
            <a:off x="7987283" y="3813048"/>
            <a:ext cx="205740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987283" y="3886200"/>
            <a:ext cx="20574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核心API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6675120" y="4434840"/>
            <a:ext cx="566928" cy="182880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702552" y="4480559"/>
            <a:ext cx="512064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微软雅黑" panose="020B0503020204020204" charset="-122"/>
              </a:rPr>
              <a:t>POST</a:t>
            </a:r>
            <a:endParaRPr sz="68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7388352" y="4425696"/>
            <a:ext cx="352044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11827"/>
                </a:solidFill>
                <a:latin typeface="微软雅黑" panose="020B0503020204020204" charset="-122"/>
              </a:rPr>
              <a:t>/api/resources</a:t>
            </a:r>
            <a:endParaRPr sz="108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2" name="Rounded Rectangle 41"/>
          <p:cNvSpPr/>
          <p:nvPr/>
        </p:nvSpPr>
        <p:spPr>
          <a:xfrm>
            <a:off x="6675120" y="4745736"/>
            <a:ext cx="566928" cy="182880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702552" y="4791455"/>
            <a:ext cx="512064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微软雅黑" panose="020B0503020204020204" charset="-122"/>
              </a:rPr>
              <a:t>GET</a:t>
            </a:r>
            <a:endParaRPr sz="68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388352" y="4736592"/>
            <a:ext cx="352044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11827"/>
                </a:solidFill>
                <a:latin typeface="微软雅黑" panose="020B0503020204020204" charset="-122"/>
              </a:rPr>
              <a:t>/api/resources</a:t>
            </a:r>
            <a:endParaRPr sz="108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5" name="Rounded Rectangle 44"/>
          <p:cNvSpPr/>
          <p:nvPr/>
        </p:nvSpPr>
        <p:spPr>
          <a:xfrm>
            <a:off x="6675120" y="5056631"/>
            <a:ext cx="566928" cy="182880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702552" y="5102351"/>
            <a:ext cx="512064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680" b="1" i="0">
                <a:solidFill>
                  <a:srgbClr val="FFFFFF"/>
                </a:solidFill>
                <a:latin typeface="微软雅黑" panose="020B0503020204020204" charset="-122"/>
              </a:rPr>
              <a:t>PATCH</a:t>
            </a:r>
            <a:endParaRPr sz="68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388352" y="5047488"/>
            <a:ext cx="3520440" cy="17373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080" b="0" i="0">
                <a:solidFill>
                  <a:srgbClr val="111827"/>
                </a:solidFill>
                <a:latin typeface="微软雅黑" panose="020B0503020204020204" charset="-122"/>
              </a:rPr>
              <a:t>/api/admin/resources/:id/status</a:t>
            </a:r>
            <a:endParaRPr sz="108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4251960" y="6053328"/>
            <a:ext cx="3657600" cy="2194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0" i="0">
                <a:solidFill>
                  <a:srgbClr val="5D6B82"/>
                </a:solidFill>
                <a:latin typeface="微软雅黑" panose="020B0503020204020204" charset="-122"/>
              </a:rPr>
              <a:t>第4-6周；P0完成后可独立开发。</a:t>
            </a:r>
            <a:endParaRPr sz="160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8691880" y="192405"/>
            <a:ext cx="3362325" cy="922020"/>
            <a:chOff x="12833" y="55"/>
            <a:chExt cx="5372" cy="1582"/>
          </a:xfrm>
        </p:grpSpPr>
        <p:pic>
          <p:nvPicPr>
            <p:cNvPr id="53" name="图片 52" descr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33" y="171"/>
              <a:ext cx="3790" cy="1058"/>
            </a:xfrm>
            <a:prstGeom prst="rect">
              <a:avLst/>
            </a:prstGeom>
          </p:spPr>
        </p:pic>
        <p:pic>
          <p:nvPicPr>
            <p:cNvPr id="54" name="图片 53" descr="SIE_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3" y="55"/>
              <a:ext cx="1583" cy="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"/>
            <a:ext cx="12191695" cy="786384"/>
          </a:xfrm>
          <a:prstGeom prst="round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" y="228600"/>
            <a:ext cx="12374575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312" y="109728"/>
            <a:ext cx="749808" cy="969264"/>
          </a:xfrm>
          <a:prstGeom prst="round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" y="429768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3.2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"/>
            <a:ext cx="6949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4F99"/>
                </a:solidFill>
                <a:latin typeface="微软雅黑" panose="020B0503020204020204" charset="-122"/>
              </a:rPr>
              <a:t>P3 学科工作集成</a:t>
            </a:r>
            <a:endParaRPr sz="30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603504" y="1463040"/>
            <a:ext cx="3337560" cy="416052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66928" y="1417320"/>
            <a:ext cx="333756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024128" y="1252728"/>
            <a:ext cx="242316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24128" y="1325880"/>
            <a:ext cx="24231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学辅开课调查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859536" y="1920240"/>
            <a:ext cx="512064" cy="512064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59536" y="2075688"/>
            <a:ext cx="512064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</a:rPr>
              <a:t>3a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950976" y="2724912"/>
            <a:ext cx="2487168" cy="105156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Survey / SurveyResponse</a:t>
            </a:r>
          </a:p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文本、单选、多选、评分</a:t>
            </a:r>
          </a:p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管理端统计结果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489704" y="1463040"/>
            <a:ext cx="3337560" cy="416052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453128" y="1417320"/>
            <a:ext cx="333756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4910328" y="1252728"/>
            <a:ext cx="242316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910328" y="1325880"/>
            <a:ext cx="24231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讲座/活动预告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Oval 21"/>
          <p:cNvSpPr/>
          <p:nvPr/>
        </p:nvSpPr>
        <p:spPr>
          <a:xfrm>
            <a:off x="4745736" y="1920240"/>
            <a:ext cx="512064" cy="512064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745736" y="2075688"/>
            <a:ext cx="512064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</a:rPr>
              <a:t>3b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837176" y="2724912"/>
            <a:ext cx="2487168" cy="105156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Announcement 模型</a:t>
            </a:r>
          </a:p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时间、地点、主讲人、附件</a:t>
            </a:r>
          </a:p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首页顶部横幅展示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75903" y="1463040"/>
            <a:ext cx="3337560" cy="416052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8339327" y="1417320"/>
            <a:ext cx="3337560" cy="416052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8796528" y="1252728"/>
            <a:ext cx="242316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796528" y="1325880"/>
            <a:ext cx="24231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绩效维度扩展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9" name="Oval 28"/>
          <p:cNvSpPr/>
          <p:nvPr/>
        </p:nvSpPr>
        <p:spPr>
          <a:xfrm>
            <a:off x="8631936" y="1920240"/>
            <a:ext cx="512064" cy="512064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631936" y="2075688"/>
            <a:ext cx="512064" cy="118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000" b="1" i="0">
                <a:solidFill>
                  <a:srgbClr val="FFFFFF"/>
                </a:solidFill>
                <a:latin typeface="微软雅黑" panose="020B0503020204020204" charset="-122"/>
              </a:rPr>
              <a:t>3c</a:t>
            </a:r>
            <a:endParaRPr sz="10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723376" y="2724912"/>
            <a:ext cx="2487168" cy="105156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academic_teaching</a:t>
            </a:r>
          </a:p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academic_event</a:t>
            </a:r>
          </a:p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academic_research</a:t>
            </a:r>
          </a:p>
          <a:p>
            <a:pPr>
              <a:spcAft>
                <a:spcPts val="400"/>
              </a:spcAft>
              <a:defRPr sz="122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管理端绩效 UI 更新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60704" y="4379976"/>
            <a:ext cx="384048" cy="420624"/>
          </a:xfrm>
          <a:prstGeom prst="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33271" y="49194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2"/>
                </a:solidFill>
                <a:latin typeface="微软雅黑" panose="020B0503020204020204" charset="-122"/>
              </a:rPr>
              <a:t>问卷</a:t>
            </a:r>
            <a:endParaRPr sz="8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1773936" y="4178808"/>
            <a:ext cx="384048" cy="621792"/>
          </a:xfrm>
          <a:prstGeom prst="rect">
            <a:avLst/>
          </a:prstGeom>
          <a:solidFill>
            <a:srgbClr val="6FA4D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746504" y="49194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2"/>
                </a:solidFill>
                <a:latin typeface="微软雅黑" panose="020B0503020204020204" charset="-122"/>
              </a:rPr>
              <a:t>答卷</a:t>
            </a:r>
            <a:endParaRPr sz="8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2487168" y="3959352"/>
            <a:ext cx="384048" cy="84124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459736" y="4919472"/>
            <a:ext cx="438912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2"/>
                </a:solidFill>
                <a:latin typeface="微软雅黑" panose="020B0503020204020204" charset="-122"/>
              </a:rPr>
              <a:t>统计</a:t>
            </a:r>
            <a:endParaRPr sz="8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1024128" y="3749039"/>
            <a:ext cx="14173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4F99"/>
                </a:solidFill>
                <a:latin typeface="微软雅黑" panose="020B0503020204020204" charset="-122"/>
              </a:rPr>
              <a:t>数据回收</a:t>
            </a:r>
            <a:endParaRPr sz="13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39" name="Rounded Rectangle 38"/>
          <p:cNvSpPr/>
          <p:nvPr/>
        </p:nvSpPr>
        <p:spPr>
          <a:xfrm>
            <a:off x="5029200" y="3840480"/>
            <a:ext cx="1664208" cy="1143000"/>
          </a:xfrm>
          <a:prstGeom prst="roundRect">
            <a:avLst/>
          </a:prstGeom>
          <a:solidFill>
            <a:srgbClr val="F8FBFF"/>
          </a:solidFill>
          <a:ln w="1270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0" y="3840480"/>
            <a:ext cx="1664208" cy="256032"/>
          </a:xfrm>
          <a:prstGeom prst="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5138928" y="3913632"/>
            <a:ext cx="1444752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780" b="1" i="0">
                <a:solidFill>
                  <a:srgbClr val="FFFFFF"/>
                </a:solidFill>
                <a:latin typeface="微软雅黑" panose="020B0503020204020204" charset="-122"/>
              </a:rPr>
              <a:t>讲座预告</a:t>
            </a:r>
            <a:endParaRPr sz="78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5230368" y="4315968"/>
            <a:ext cx="12801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00" b="0" i="0">
                <a:solidFill>
                  <a:srgbClr val="111827"/>
                </a:solidFill>
                <a:latin typeface="微软雅黑" panose="020B0503020204020204" charset="-122"/>
              </a:rPr>
              <a:t>时间 | 地点 | 主讲人</a:t>
            </a:r>
            <a:endParaRPr sz="900" b="0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5285232" y="4645152"/>
            <a:ext cx="1143000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0" i="0">
                <a:solidFill>
                  <a:srgbClr val="5D6B82"/>
                </a:solidFill>
                <a:latin typeface="微软雅黑" panose="020B0503020204020204" charset="-122"/>
              </a:rPr>
              <a:t>首页横幅展示</a:t>
            </a:r>
            <a:endParaRPr sz="8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44" name="Rounded Rectangle 43"/>
          <p:cNvSpPr/>
          <p:nvPr/>
        </p:nvSpPr>
        <p:spPr>
          <a:xfrm>
            <a:off x="8915400" y="4160520"/>
            <a:ext cx="566928" cy="347472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915400" y="4261104"/>
            <a:ext cx="56692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微软雅黑" panose="020B0503020204020204" charset="-122"/>
              </a:rPr>
              <a:t>教学</a:t>
            </a:r>
            <a:endParaRPr sz="8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6" name="Rounded Rectangle 45"/>
          <p:cNvSpPr/>
          <p:nvPr/>
        </p:nvSpPr>
        <p:spPr>
          <a:xfrm>
            <a:off x="9573768" y="4599431"/>
            <a:ext cx="566928" cy="347472"/>
          </a:xfrm>
          <a:prstGeom prst="roundRect">
            <a:avLst/>
          </a:prstGeom>
          <a:solidFill>
            <a:srgbClr val="1B9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9573768" y="4700016"/>
            <a:ext cx="56692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微软雅黑" panose="020B0503020204020204" charset="-122"/>
              </a:rPr>
              <a:t>活动</a:t>
            </a:r>
            <a:endParaRPr sz="8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8" name="Rounded Rectangle 47"/>
          <p:cNvSpPr/>
          <p:nvPr/>
        </p:nvSpPr>
        <p:spPr>
          <a:xfrm>
            <a:off x="10232136" y="4160520"/>
            <a:ext cx="566928" cy="347472"/>
          </a:xfrm>
          <a:prstGeom prst="round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10232136" y="4261104"/>
            <a:ext cx="566928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微软雅黑" panose="020B0503020204020204" charset="-122"/>
              </a:rPr>
              <a:t>研究</a:t>
            </a:r>
            <a:endParaRPr sz="8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0" name="TextBox 49"/>
          <p:cNvSpPr txBox="1"/>
          <p:nvPr/>
        </p:nvSpPr>
        <p:spPr>
          <a:xfrm>
            <a:off x="8823960" y="5047488"/>
            <a:ext cx="1874519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300" b="1" i="0">
                <a:solidFill>
                  <a:srgbClr val="1F4F99"/>
                </a:solidFill>
                <a:latin typeface="微软雅黑" panose="020B0503020204020204" charset="-122"/>
              </a:rPr>
              <a:t>加权绩效</a:t>
            </a:r>
            <a:endParaRPr sz="13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51" name="TextBox 50"/>
          <p:cNvSpPr txBox="1"/>
          <p:nvPr/>
        </p:nvSpPr>
        <p:spPr>
          <a:xfrm>
            <a:off x="4160520" y="6080760"/>
            <a:ext cx="3931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5D6B82"/>
                </a:solidFill>
                <a:latin typeface="微软雅黑" panose="020B0503020204020204" charset="-122"/>
              </a:rPr>
              <a:t>新增依赖：recharts，用于问卷统计图表。</a:t>
            </a:r>
            <a:endParaRPr sz="14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8691880" y="192405"/>
            <a:ext cx="3362325" cy="922020"/>
            <a:chOff x="12833" y="55"/>
            <a:chExt cx="5372" cy="1582"/>
          </a:xfrm>
        </p:grpSpPr>
        <p:pic>
          <p:nvPicPr>
            <p:cNvPr id="53" name="图片 52" descr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33" y="171"/>
              <a:ext cx="3790" cy="1058"/>
            </a:xfrm>
            <a:prstGeom prst="rect">
              <a:avLst/>
            </a:prstGeom>
          </p:spPr>
        </p:pic>
        <p:pic>
          <p:nvPicPr>
            <p:cNvPr id="54" name="图片 53" descr="SIE_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3" y="55"/>
              <a:ext cx="1583" cy="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"/>
            <a:ext cx="12191695" cy="786384"/>
          </a:xfrm>
          <a:prstGeom prst="round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" y="228600"/>
            <a:ext cx="12374575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312" y="109728"/>
            <a:ext cx="749808" cy="969264"/>
          </a:xfrm>
          <a:prstGeom prst="round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" y="429768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4.1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"/>
            <a:ext cx="6949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4F99"/>
                </a:solidFill>
                <a:latin typeface="微软雅黑" panose="020B0503020204020204" charset="-122"/>
              </a:rPr>
              <a:t>P4 验证系统 与 P5 微信小程序</a:t>
            </a:r>
            <a:endParaRPr sz="30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9496" y="1463040"/>
            <a:ext cx="5440680" cy="434340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417320"/>
            <a:ext cx="544068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37360" y="1252728"/>
            <a:ext cx="297180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37360" y="1325880"/>
            <a:ext cx="29718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手机号/邮箱验证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68680" y="1920240"/>
            <a:ext cx="4389120" cy="105156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2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VerificationCode：目标、类型、用途、过期时间</a:t>
            </a:r>
          </a:p>
          <a:p>
            <a:pPr>
              <a:spcAft>
                <a:spcPts val="400"/>
              </a:spcAft>
              <a:defRPr sz="12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发送验证码、验证验证码、绑定/修改邮箱和手机号</a:t>
            </a:r>
          </a:p>
          <a:p>
            <a:pPr>
              <a:spcAft>
                <a:spcPts val="400"/>
              </a:spcAft>
              <a:defRPr sz="12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前端新增验证码输入框与60秒冷却倒计时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" y="3694176"/>
            <a:ext cx="9601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邮箱验证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920240" y="3694176"/>
            <a:ext cx="2148840" cy="201168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920240" y="3694176"/>
            <a:ext cx="687628" cy="201168"/>
          </a:xfrm>
          <a:prstGeom prst="rect">
            <a:avLst/>
          </a:prstGeom>
          <a:solidFill>
            <a:srgbClr val="1B9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3685032"/>
            <a:ext cx="685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D6B82"/>
                </a:solidFill>
                <a:latin typeface="微软雅黑" panose="020B0503020204020204" charset="-122"/>
              </a:rPr>
              <a:t>低风险</a:t>
            </a:r>
            <a:endParaRPr sz="11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68680" y="4133087"/>
            <a:ext cx="96012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短信验证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1" name="Rectangle 20"/>
          <p:cNvSpPr/>
          <p:nvPr/>
        </p:nvSpPr>
        <p:spPr>
          <a:xfrm>
            <a:off x="1920240" y="4133087"/>
            <a:ext cx="2148840" cy="201168"/>
          </a:xfrm>
          <a:prstGeom prst="rect">
            <a:avLst/>
          </a:prstGeom>
          <a:solidFill>
            <a:srgbClr val="DC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920240" y="4133087"/>
            <a:ext cx="1246327" cy="201168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06240" y="4123944"/>
            <a:ext cx="68580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D6B82"/>
                </a:solidFill>
                <a:latin typeface="微软雅黑" panose="020B0503020204020204" charset="-122"/>
              </a:rPr>
              <a:t>中风险</a:t>
            </a:r>
            <a:endParaRPr sz="11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868680" y="4709160"/>
            <a:ext cx="4343400" cy="23774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F4F99"/>
                </a:solidFill>
                <a:latin typeface="微软雅黑" panose="020B0503020204020204" charset="-122"/>
              </a:rPr>
              <a:t>建议：先做邮箱验证，短信验证作为可选增强。</a:t>
            </a:r>
            <a:endParaRPr sz="15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5" name="Rounded Rectangle 24"/>
          <p:cNvSpPr/>
          <p:nvPr/>
        </p:nvSpPr>
        <p:spPr>
          <a:xfrm>
            <a:off x="1143000" y="5074920"/>
            <a:ext cx="749808" cy="310896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43000" y="5166360"/>
            <a:ext cx="74980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F4F99"/>
                </a:solidFill>
                <a:latin typeface="微软雅黑" panose="020B0503020204020204" charset="-122"/>
              </a:rPr>
              <a:t>发送</a:t>
            </a:r>
            <a:endParaRPr sz="8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7" name="Chevron 26"/>
          <p:cNvSpPr/>
          <p:nvPr/>
        </p:nvSpPr>
        <p:spPr>
          <a:xfrm>
            <a:off x="1975104" y="5120640"/>
            <a:ext cx="164592" cy="20116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221991" y="5074920"/>
            <a:ext cx="749808" cy="310896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221991" y="5166360"/>
            <a:ext cx="74980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F4F99"/>
                </a:solidFill>
                <a:latin typeface="微软雅黑" panose="020B0503020204020204" charset="-122"/>
              </a:rPr>
              <a:t>校验</a:t>
            </a:r>
            <a:endParaRPr sz="8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30" name="Chevron 29"/>
          <p:cNvSpPr/>
          <p:nvPr/>
        </p:nvSpPr>
        <p:spPr>
          <a:xfrm>
            <a:off x="3054096" y="5120640"/>
            <a:ext cx="164592" cy="201168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3300984" y="5074920"/>
            <a:ext cx="749808" cy="310896"/>
          </a:xfrm>
          <a:prstGeom prst="roundRect">
            <a:avLst/>
          </a:prstGeom>
          <a:solidFill>
            <a:srgbClr val="EAF2FC"/>
          </a:solidFill>
          <a:ln w="1016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300984" y="5166360"/>
            <a:ext cx="749808" cy="7315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1F4F99"/>
                </a:solidFill>
                <a:latin typeface="微软雅黑" panose="020B0503020204020204" charset="-122"/>
              </a:rPr>
              <a:t>绑定</a:t>
            </a:r>
            <a:endParaRPr sz="8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33" name="Rounded Rectangle 32"/>
          <p:cNvSpPr/>
          <p:nvPr/>
        </p:nvSpPr>
        <p:spPr>
          <a:xfrm>
            <a:off x="6483096" y="1463040"/>
            <a:ext cx="5257800" cy="434340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6446520" y="1417320"/>
            <a:ext cx="5257800" cy="434340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7863840" y="1252728"/>
            <a:ext cx="242316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863840" y="1325880"/>
            <a:ext cx="24231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微信小程序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Rounded Rectangle 36"/>
          <p:cNvSpPr/>
          <p:nvPr/>
        </p:nvSpPr>
        <p:spPr>
          <a:xfrm>
            <a:off x="6821424" y="1993392"/>
            <a:ext cx="749808" cy="320040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48856" y="2075688"/>
            <a:ext cx="694944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微软雅黑" panose="020B0503020204020204" charset="-122"/>
              </a:rPr>
              <a:t>方案A</a:t>
            </a:r>
            <a:endParaRPr sz="8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54112" y="1984248"/>
            <a:ext cx="187451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F99"/>
                </a:solidFill>
                <a:latin typeface="微软雅黑" panose="020B0503020204020204" charset="-122"/>
              </a:rPr>
              <a:t>WebView 包裹</a:t>
            </a:r>
            <a:endParaRPr sz="14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754112" y="2304288"/>
            <a:ext cx="29718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D6B82"/>
                </a:solidFill>
                <a:latin typeface="微软雅黑" panose="020B0503020204020204" charset="-122"/>
              </a:rPr>
              <a:t>最快到 MVP，复用全部 React 代码</a:t>
            </a:r>
            <a:endParaRPr sz="11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41" name="Rounded Rectangle 40"/>
          <p:cNvSpPr/>
          <p:nvPr/>
        </p:nvSpPr>
        <p:spPr>
          <a:xfrm>
            <a:off x="6821424" y="2953512"/>
            <a:ext cx="749808" cy="320040"/>
          </a:xfrm>
          <a:prstGeom prst="roundRect">
            <a:avLst/>
          </a:prstGeom>
          <a:solidFill>
            <a:srgbClr val="B8C7D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48856" y="3035808"/>
            <a:ext cx="694944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850" b="1" i="0">
                <a:solidFill>
                  <a:srgbClr val="FFFFFF"/>
                </a:solidFill>
                <a:latin typeface="微软雅黑" panose="020B0503020204020204" charset="-122"/>
              </a:rPr>
              <a:t>方案B</a:t>
            </a:r>
            <a:endParaRPr sz="8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7754112" y="2944368"/>
            <a:ext cx="1874519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400" b="1" i="0">
                <a:solidFill>
                  <a:srgbClr val="1F4F99"/>
                </a:solidFill>
                <a:latin typeface="微软雅黑" panose="020B0503020204020204" charset="-122"/>
              </a:rPr>
              <a:t>Taro/uni-app 原生</a:t>
            </a:r>
            <a:endParaRPr sz="14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7754112" y="3264408"/>
            <a:ext cx="29718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150" b="0" i="0">
                <a:solidFill>
                  <a:srgbClr val="5D6B82"/>
                </a:solidFill>
                <a:latin typeface="微软雅黑" panose="020B0503020204020204" charset="-122"/>
              </a:rPr>
              <a:t>新增微信 OAuth 与模板消息</a:t>
            </a:r>
            <a:endParaRPr sz="11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6812280" y="4315968"/>
            <a:ext cx="914400" cy="18288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300" b="1" i="0">
                <a:solidFill>
                  <a:srgbClr val="1F4F99"/>
                </a:solidFill>
                <a:latin typeface="微软雅黑" panose="020B0503020204020204" charset="-122"/>
              </a:rPr>
              <a:t>前置条件</a:t>
            </a:r>
            <a:endParaRPr sz="13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6812280" y="4599432"/>
            <a:ext cx="4251960" cy="512064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公众号/小程序注册与审核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域名 ICP 备案；现有 SSL 证书可复用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261104" y="6080760"/>
            <a:ext cx="365760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5D6B82"/>
                </a:solidFill>
                <a:latin typeface="微软雅黑" panose="020B0503020204020204" charset="-122"/>
              </a:rPr>
              <a:t>时间：P4 第8-9周；P5 第10-12周。</a:t>
            </a:r>
            <a:endParaRPr sz="14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8691880" y="192405"/>
            <a:ext cx="3362325" cy="922020"/>
            <a:chOff x="12833" y="55"/>
            <a:chExt cx="5372" cy="1582"/>
          </a:xfrm>
        </p:grpSpPr>
        <p:pic>
          <p:nvPicPr>
            <p:cNvPr id="53" name="图片 52" descr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33" y="171"/>
              <a:ext cx="3790" cy="1058"/>
            </a:xfrm>
            <a:prstGeom prst="rect">
              <a:avLst/>
            </a:prstGeom>
          </p:spPr>
        </p:pic>
        <p:pic>
          <p:nvPicPr>
            <p:cNvPr id="54" name="图片 53" descr="SIE_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3" y="55"/>
              <a:ext cx="1583" cy="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"/>
            <a:ext cx="12191695" cy="786384"/>
          </a:xfrm>
          <a:prstGeom prst="round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" y="228600"/>
            <a:ext cx="12374575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312" y="109728"/>
            <a:ext cx="749808" cy="969264"/>
          </a:xfrm>
          <a:prstGeom prst="round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" y="429768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5.1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"/>
            <a:ext cx="6949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4F99"/>
                </a:solidFill>
                <a:latin typeface="微软雅黑" panose="020B0503020204020204" charset="-122"/>
              </a:rPr>
              <a:t>长期升级：SIE生活平台</a:t>
            </a:r>
            <a:endParaRPr sz="30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9496" y="1399032"/>
            <a:ext cx="5715000" cy="452628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353312"/>
            <a:ext cx="5715000" cy="4526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1783080" y="1188720"/>
            <a:ext cx="315468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783080" y="1261872"/>
            <a:ext cx="315468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从单一反馈到院级平台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057400" y="1828800"/>
            <a:ext cx="2194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2100" b="1" i="0">
                <a:solidFill>
                  <a:srgbClr val="1F4F99"/>
                </a:solidFill>
                <a:latin typeface="微软雅黑" panose="020B0503020204020204" charset="-122"/>
              </a:rPr>
              <a:t>SIE生活平台</a:t>
            </a:r>
            <a:endParaRPr sz="21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6" name="Rounded Rectangle 15"/>
          <p:cNvSpPr/>
          <p:nvPr/>
        </p:nvSpPr>
        <p:spPr>
          <a:xfrm>
            <a:off x="2212848" y="2212848"/>
            <a:ext cx="1874519" cy="502920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514029" y="2368296"/>
            <a:ext cx="1263015" cy="16891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院学生</a:t>
            </a:r>
            <a:r>
              <a:rPr lang="zh-CN" sz="1100" b="1" i="0">
                <a:solidFill>
                  <a:srgbClr val="FFFFFF"/>
                </a:solidFill>
                <a:latin typeface="微软雅黑" panose="020B0503020204020204" charset="-122"/>
              </a:rPr>
              <a:t>生活</a:t>
            </a:r>
            <a:r>
              <a:rPr sz="1100" b="1" i="0">
                <a:solidFill>
                  <a:srgbClr val="FFFFFF"/>
                </a:solidFill>
                <a:latin typeface="微软雅黑" panose="020B0503020204020204" charset="-122"/>
              </a:rPr>
              <a:t>官网入口</a:t>
            </a:r>
            <a:endParaRPr sz="11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941832" y="3035808"/>
            <a:ext cx="1325880" cy="411480"/>
          </a:xfrm>
          <a:prstGeom prst="roundRect">
            <a:avLst/>
          </a:prstGeom>
          <a:solidFill>
            <a:srgbClr val="EAF2FC"/>
          </a:solidFill>
          <a:ln w="1143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301560" y="3154679"/>
            <a:ext cx="606425" cy="14605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lang="zh-CN" sz="950" b="1" i="0">
                <a:solidFill>
                  <a:srgbClr val="1F4F99"/>
                </a:solidFill>
                <a:latin typeface="微软雅黑" panose="020B0503020204020204" charset="-122"/>
              </a:rPr>
              <a:t>学生</a:t>
            </a:r>
            <a:r>
              <a:rPr sz="950" b="1" i="0">
                <a:solidFill>
                  <a:srgbClr val="1F4F99"/>
                </a:solidFill>
                <a:latin typeface="微软雅黑" panose="020B0503020204020204" charset="-122"/>
              </a:rPr>
              <a:t>权益部</a:t>
            </a:r>
            <a:endParaRPr sz="9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0" name="Rounded Rectangle 19"/>
          <p:cNvSpPr/>
          <p:nvPr/>
        </p:nvSpPr>
        <p:spPr>
          <a:xfrm>
            <a:off x="2505456" y="3035808"/>
            <a:ext cx="1325880" cy="411480"/>
          </a:xfrm>
          <a:prstGeom prst="roundRect">
            <a:avLst/>
          </a:prstGeom>
          <a:solidFill>
            <a:srgbClr val="EAF2FC"/>
          </a:solidFill>
          <a:ln w="1143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505456" y="3154679"/>
            <a:ext cx="13258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F4F99"/>
                </a:solidFill>
                <a:latin typeface="微软雅黑" panose="020B0503020204020204" charset="-122"/>
              </a:rPr>
              <a:t>学术科技部</a:t>
            </a:r>
            <a:endParaRPr sz="9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2" name="Rounded Rectangle 21"/>
          <p:cNvSpPr/>
          <p:nvPr/>
        </p:nvSpPr>
        <p:spPr>
          <a:xfrm>
            <a:off x="4270248" y="3035808"/>
            <a:ext cx="1325880" cy="411480"/>
          </a:xfrm>
          <a:prstGeom prst="roundRect">
            <a:avLst/>
          </a:prstGeom>
          <a:solidFill>
            <a:srgbClr val="EAF2FC"/>
          </a:solidFill>
          <a:ln w="1143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270248" y="3154679"/>
            <a:ext cx="13258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F4F99"/>
                </a:solidFill>
                <a:latin typeface="微软雅黑" panose="020B0503020204020204" charset="-122"/>
              </a:rPr>
              <a:t>文体部</a:t>
            </a:r>
            <a:endParaRPr sz="9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4" name="Rounded Rectangle 23"/>
          <p:cNvSpPr/>
          <p:nvPr/>
        </p:nvSpPr>
        <p:spPr>
          <a:xfrm>
            <a:off x="1719072" y="3968496"/>
            <a:ext cx="1325880" cy="411480"/>
          </a:xfrm>
          <a:prstGeom prst="roundRect">
            <a:avLst/>
          </a:prstGeom>
          <a:solidFill>
            <a:srgbClr val="EAF2FC"/>
          </a:solidFill>
          <a:ln w="1143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018157" y="4087368"/>
            <a:ext cx="727710" cy="146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zh-CN" sz="950" b="1" i="0">
                <a:solidFill>
                  <a:srgbClr val="1F4F99"/>
                </a:solidFill>
                <a:latin typeface="微软雅黑" panose="020B0503020204020204" charset="-122"/>
              </a:rPr>
              <a:t>志愿者工作</a:t>
            </a:r>
            <a:r>
              <a:rPr sz="950" b="1" i="0">
                <a:solidFill>
                  <a:srgbClr val="1F4F99"/>
                </a:solidFill>
                <a:latin typeface="微软雅黑" panose="020B0503020204020204" charset="-122"/>
              </a:rPr>
              <a:t>部</a:t>
            </a:r>
            <a:endParaRPr sz="9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6" name="Rounded Rectangle 25"/>
          <p:cNvSpPr/>
          <p:nvPr/>
        </p:nvSpPr>
        <p:spPr>
          <a:xfrm>
            <a:off x="3520440" y="3968496"/>
            <a:ext cx="1325880" cy="411480"/>
          </a:xfrm>
          <a:prstGeom prst="roundRect">
            <a:avLst/>
          </a:prstGeom>
          <a:solidFill>
            <a:srgbClr val="EAF2FC"/>
          </a:solidFill>
          <a:ln w="11430">
            <a:solidFill>
              <a:srgbClr val="1764A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520440" y="4087368"/>
            <a:ext cx="1325880" cy="9144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1F4F99"/>
                </a:solidFill>
                <a:latin typeface="微软雅黑" panose="020B0503020204020204" charset="-122"/>
              </a:rPr>
              <a:t>综合办公室</a:t>
            </a:r>
            <a:endParaRPr sz="9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96112" y="5074920"/>
            <a:ext cx="4480560" cy="25603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1280" b="0" i="0">
                <a:solidFill>
                  <a:srgbClr val="5D6B82"/>
                </a:solidFill>
                <a:latin typeface="微软雅黑" panose="020B0503020204020204" charset="-122"/>
              </a:rPr>
              <a:t>角色层级：校级超管 &gt; 院级超管 &gt; 部门部长 &gt; 部门干事 &gt; 学生</a:t>
            </a:r>
            <a:endParaRPr sz="128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29" name="Rounded Rectangle 28"/>
          <p:cNvSpPr/>
          <p:nvPr/>
        </p:nvSpPr>
        <p:spPr>
          <a:xfrm>
            <a:off x="6638544" y="1399032"/>
            <a:ext cx="5047488" cy="201168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6601968" y="1353312"/>
            <a:ext cx="5047488" cy="20116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7754112" y="1188720"/>
            <a:ext cx="274320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754112" y="1261872"/>
            <a:ext cx="274320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LT2 轻量AI智能体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949440" y="1783080"/>
            <a:ext cx="3977639" cy="86868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反馈自动分类：建议分类与优先级</a:t>
            </a:r>
          </a:p>
          <a:p>
            <a:pPr>
              <a:spcAft>
                <a:spcPts val="400"/>
              </a:spcAft>
              <a:defRPr sz="11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FAQ 智能问答：常见流程自动回复</a:t>
            </a:r>
          </a:p>
          <a:p>
            <a:pPr>
              <a:spcAft>
                <a:spcPts val="400"/>
              </a:spcAft>
              <a:defRPr sz="11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紧急问题升级：敏感内容自动标记并通知人工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6638544" y="3931920"/>
            <a:ext cx="5047488" cy="1993392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ounded Rectangle 34"/>
          <p:cNvSpPr/>
          <p:nvPr/>
        </p:nvSpPr>
        <p:spPr>
          <a:xfrm>
            <a:off x="6601968" y="3886200"/>
            <a:ext cx="5047488" cy="199339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7959852" y="3721608"/>
            <a:ext cx="233172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959852" y="3794760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LT3 校级扩展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949440" y="4315968"/>
            <a:ext cx="3977639" cy="896112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1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校级管理员查看多学院数据</a:t>
            </a:r>
          </a:p>
          <a:p>
            <a:pPr>
              <a:spcAft>
                <a:spcPts val="400"/>
              </a:spcAft>
              <a:defRPr sz="11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跨院反馈处理效率对比面板</a:t>
            </a:r>
          </a:p>
          <a:p>
            <a:pPr>
              <a:spcAft>
                <a:spcPts val="400"/>
              </a:spcAft>
              <a:defRPr sz="11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教师角色查看所带班级统计</a:t>
            </a:r>
          </a:p>
          <a:p>
            <a:pPr>
              <a:spcAft>
                <a:spcPts val="400"/>
              </a:spcAft>
              <a:defRPr sz="118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与校学生会建立机制后推进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566160" y="6108192"/>
            <a:ext cx="50749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50" b="1" i="0">
                <a:solidFill>
                  <a:srgbClr val="1F4F99"/>
                </a:solidFill>
                <a:latin typeface="微软雅黑" panose="020B0503020204020204" charset="-122"/>
              </a:rPr>
              <a:t>3-12个月：先平台化，再智能化，最后校级扩展。</a:t>
            </a:r>
            <a:endParaRPr sz="145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8691880" y="192405"/>
            <a:ext cx="3362325" cy="922020"/>
            <a:chOff x="12833" y="55"/>
            <a:chExt cx="5372" cy="1582"/>
          </a:xfrm>
        </p:grpSpPr>
        <p:pic>
          <p:nvPicPr>
            <p:cNvPr id="53" name="图片 52" descr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33" y="171"/>
              <a:ext cx="3790" cy="1058"/>
            </a:xfrm>
            <a:prstGeom prst="rect">
              <a:avLst/>
            </a:prstGeom>
          </p:spPr>
        </p:pic>
        <p:pic>
          <p:nvPicPr>
            <p:cNvPr id="54" name="图片 53" descr="SIE_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3" y="55"/>
              <a:ext cx="1583" cy="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AF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320040"/>
            <a:ext cx="12191695" cy="786384"/>
          </a:xfrm>
          <a:prstGeom prst="roundRect">
            <a:avLst/>
          </a:prstGeom>
          <a:solidFill>
            <a:srgbClr val="DDE5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-91440" y="228600"/>
            <a:ext cx="12374575" cy="713232"/>
          </a:xfrm>
          <a:prstGeom prst="round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210312" y="109728"/>
            <a:ext cx="749808" cy="969264"/>
          </a:xfrm>
          <a:prstGeom prst="roundRect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46888" y="429768"/>
            <a:ext cx="676656" cy="329184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微软雅黑" panose="020B0503020204020204" charset="-122"/>
              </a:rPr>
              <a:t>6.1</a:t>
            </a:r>
            <a:endParaRPr sz="24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097280" y="429768"/>
            <a:ext cx="6949440" cy="38404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l"/>
            <a:r>
              <a:rPr sz="3000" b="1" i="0">
                <a:solidFill>
                  <a:srgbClr val="1F4F99"/>
                </a:solidFill>
                <a:latin typeface="微软雅黑" panose="020B0503020204020204" charset="-122"/>
              </a:rPr>
              <a:t>实施顺序与验收</a:t>
            </a:r>
            <a:endParaRPr sz="30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11" name="Rounded Rectangle 10"/>
          <p:cNvSpPr/>
          <p:nvPr/>
        </p:nvSpPr>
        <p:spPr>
          <a:xfrm>
            <a:off x="539496" y="1399032"/>
            <a:ext cx="11201400" cy="2240280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502920" y="1353312"/>
            <a:ext cx="11201400" cy="2240280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937759" y="1188720"/>
            <a:ext cx="233172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937759" y="1261872"/>
            <a:ext cx="233172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依赖路径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5" name="Oval 14"/>
          <p:cNvSpPr/>
          <p:nvPr/>
        </p:nvSpPr>
        <p:spPr>
          <a:xfrm>
            <a:off x="914400" y="1883664"/>
            <a:ext cx="566928" cy="566928"/>
          </a:xfrm>
          <a:prstGeom prst="ellipse">
            <a:avLst/>
          </a:prstGeom>
          <a:solidFill>
            <a:srgbClr val="1F4F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2039112"/>
            <a:ext cx="566928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</a:rPr>
              <a:t>P0</a:t>
            </a:r>
            <a:endParaRPr sz="9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685800" y="2651760"/>
            <a:ext cx="1051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架构重构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85800" y="2926080"/>
            <a:ext cx="1051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D6B82"/>
                </a:solidFill>
                <a:latin typeface="微软雅黑" panose="020B0503020204020204" charset="-122"/>
              </a:rPr>
              <a:t>第1-2周</a:t>
            </a:r>
            <a:endParaRPr sz="9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19" name="Chevron 18"/>
          <p:cNvSpPr/>
          <p:nvPr/>
        </p:nvSpPr>
        <p:spPr>
          <a:xfrm>
            <a:off x="1664207" y="2029968"/>
            <a:ext cx="256032" cy="274320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2423160" y="1883664"/>
            <a:ext cx="566928" cy="566928"/>
          </a:xfrm>
          <a:prstGeom prst="ellipse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2423160" y="2039112"/>
            <a:ext cx="566928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</a:rPr>
              <a:t>P1</a:t>
            </a:r>
            <a:endParaRPr sz="9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2194560" y="2651760"/>
            <a:ext cx="1051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UI升级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2194560" y="2926080"/>
            <a:ext cx="1051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D6B82"/>
                </a:solidFill>
                <a:latin typeface="微软雅黑" panose="020B0503020204020204" charset="-122"/>
              </a:rPr>
              <a:t>第2-4周</a:t>
            </a:r>
            <a:endParaRPr sz="9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24" name="Chevron 23"/>
          <p:cNvSpPr/>
          <p:nvPr/>
        </p:nvSpPr>
        <p:spPr>
          <a:xfrm>
            <a:off x="3172968" y="2029968"/>
            <a:ext cx="256032" cy="274320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931920" y="1883664"/>
            <a:ext cx="566928" cy="566928"/>
          </a:xfrm>
          <a:prstGeom prst="ellipse">
            <a:avLst/>
          </a:prstGeom>
          <a:solidFill>
            <a:srgbClr val="1B9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931920" y="2039112"/>
            <a:ext cx="566928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</a:rPr>
              <a:t>P2</a:t>
            </a:r>
            <a:endParaRPr sz="9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3703320" y="2651760"/>
            <a:ext cx="1051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资源共享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3703320" y="2926080"/>
            <a:ext cx="1051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D6B82"/>
                </a:solidFill>
                <a:latin typeface="微软雅黑" panose="020B0503020204020204" charset="-122"/>
              </a:rPr>
              <a:t>第4-6周</a:t>
            </a:r>
            <a:endParaRPr sz="9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29" name="Chevron 28"/>
          <p:cNvSpPr/>
          <p:nvPr/>
        </p:nvSpPr>
        <p:spPr>
          <a:xfrm>
            <a:off x="4681728" y="2029968"/>
            <a:ext cx="256032" cy="274320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440679" y="1883664"/>
            <a:ext cx="566928" cy="566928"/>
          </a:xfrm>
          <a:prstGeom prst="ellipse">
            <a:avLst/>
          </a:prstGeom>
          <a:solidFill>
            <a:srgbClr val="1B9A7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79" y="2039112"/>
            <a:ext cx="566928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</a:rPr>
              <a:t>P3</a:t>
            </a:r>
            <a:endParaRPr sz="9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12079" y="2651760"/>
            <a:ext cx="1051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学科集成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5212079" y="2926080"/>
            <a:ext cx="1051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D6B82"/>
                </a:solidFill>
                <a:latin typeface="微软雅黑" panose="020B0503020204020204" charset="-122"/>
              </a:rPr>
              <a:t>第6-8周</a:t>
            </a:r>
            <a:endParaRPr sz="9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34" name="Chevron 33"/>
          <p:cNvSpPr/>
          <p:nvPr/>
        </p:nvSpPr>
        <p:spPr>
          <a:xfrm>
            <a:off x="6190488" y="2029968"/>
            <a:ext cx="256032" cy="274320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6949440" y="1883664"/>
            <a:ext cx="566928" cy="5669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949440" y="2039112"/>
            <a:ext cx="566928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</a:rPr>
              <a:t>P4</a:t>
            </a:r>
            <a:endParaRPr sz="9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20840" y="2651760"/>
            <a:ext cx="1051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验证系统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720840" y="2926080"/>
            <a:ext cx="1051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D6B82"/>
                </a:solidFill>
                <a:latin typeface="微软雅黑" panose="020B0503020204020204" charset="-122"/>
              </a:rPr>
              <a:t>第8-9周</a:t>
            </a:r>
            <a:endParaRPr sz="9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39" name="Chevron 38"/>
          <p:cNvSpPr/>
          <p:nvPr/>
        </p:nvSpPr>
        <p:spPr>
          <a:xfrm>
            <a:off x="7699248" y="2029968"/>
            <a:ext cx="256032" cy="274320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8458200" y="1883664"/>
            <a:ext cx="566928" cy="566928"/>
          </a:xfrm>
          <a:prstGeom prst="ellipse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58200" y="2039112"/>
            <a:ext cx="566928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</a:rPr>
              <a:t>P5</a:t>
            </a:r>
            <a:endParaRPr sz="9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8229600" y="2651760"/>
            <a:ext cx="1051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小程序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8229600" y="2926080"/>
            <a:ext cx="1051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D6B82"/>
                </a:solidFill>
                <a:latin typeface="微软雅黑" panose="020B0503020204020204" charset="-122"/>
              </a:rPr>
              <a:t>第10-12周</a:t>
            </a:r>
            <a:endParaRPr sz="9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44" name="Chevron 43"/>
          <p:cNvSpPr/>
          <p:nvPr/>
        </p:nvSpPr>
        <p:spPr>
          <a:xfrm>
            <a:off x="9208008" y="2029968"/>
            <a:ext cx="256032" cy="274320"/>
          </a:xfrm>
          <a:prstGeom prst="chevron">
            <a:avLst/>
          </a:prstGeom>
          <a:solidFill>
            <a:srgbClr val="8DB2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9966959" y="1883664"/>
            <a:ext cx="566928" cy="566928"/>
          </a:xfrm>
          <a:prstGeom prst="ellipse">
            <a:avLst/>
          </a:prstGeom>
          <a:solidFill>
            <a:srgbClr val="0E3F8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66959" y="2039112"/>
            <a:ext cx="566928" cy="109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微软雅黑" panose="020B0503020204020204" charset="-122"/>
              </a:rPr>
              <a:t>LT</a:t>
            </a:r>
            <a:endParaRPr sz="95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9738359" y="2651760"/>
            <a:ext cx="1051560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150" b="1" i="0">
                <a:solidFill>
                  <a:srgbClr val="111827"/>
                </a:solidFill>
                <a:latin typeface="微软雅黑" panose="020B0503020204020204" charset="-122"/>
              </a:rPr>
              <a:t>平台/AI/校级</a:t>
            </a:r>
            <a:endParaRPr sz="1150" b="1" i="0">
              <a:solidFill>
                <a:srgbClr val="111827"/>
              </a:solidFill>
              <a:latin typeface="微软雅黑" panose="020B0503020204020204" charset="-122"/>
            </a:endParaRPr>
          </a:p>
        </p:txBody>
      </p:sp>
      <p:sp>
        <p:nvSpPr>
          <p:cNvPr id="48" name="TextBox 47"/>
          <p:cNvSpPr txBox="1"/>
          <p:nvPr/>
        </p:nvSpPr>
        <p:spPr>
          <a:xfrm>
            <a:off x="9738359" y="2926080"/>
            <a:ext cx="1051560" cy="12801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950" b="0" i="0">
                <a:solidFill>
                  <a:srgbClr val="5D6B82"/>
                </a:solidFill>
                <a:latin typeface="微软雅黑" panose="020B0503020204020204" charset="-122"/>
              </a:rPr>
              <a:t>3-12月</a:t>
            </a:r>
            <a:endParaRPr sz="9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sp>
        <p:nvSpPr>
          <p:cNvPr id="49" name="Rounded Rectangle 48"/>
          <p:cNvSpPr/>
          <p:nvPr/>
        </p:nvSpPr>
        <p:spPr>
          <a:xfrm>
            <a:off x="539496" y="4178807"/>
            <a:ext cx="3566160" cy="1444752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ounded Rectangle 49"/>
          <p:cNvSpPr/>
          <p:nvPr/>
        </p:nvSpPr>
        <p:spPr>
          <a:xfrm>
            <a:off x="502920" y="4133087"/>
            <a:ext cx="3566160" cy="14447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Rounded Rectangle 50"/>
          <p:cNvSpPr/>
          <p:nvPr/>
        </p:nvSpPr>
        <p:spPr>
          <a:xfrm>
            <a:off x="1211580" y="3968496"/>
            <a:ext cx="214884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211580" y="4041648"/>
            <a:ext cx="214884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必须先验收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822960" y="4526280"/>
            <a:ext cx="2743200" cy="54864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API 响应格式保持一致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前端页面功能与重构前一致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npm run dev 正常启动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4535424" y="4178807"/>
            <a:ext cx="3566160" cy="1444752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ounded Rectangle 54"/>
          <p:cNvSpPr/>
          <p:nvPr/>
        </p:nvSpPr>
        <p:spPr>
          <a:xfrm>
            <a:off x="4498848" y="4133087"/>
            <a:ext cx="3566160" cy="14447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ounded Rectangle 55"/>
          <p:cNvSpPr/>
          <p:nvPr/>
        </p:nvSpPr>
        <p:spPr>
          <a:xfrm>
            <a:off x="5298948" y="3968496"/>
            <a:ext cx="196596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5298948" y="4041648"/>
            <a:ext cx="19659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并行窗口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58" name="TextBox 57"/>
          <p:cNvSpPr txBox="1"/>
          <p:nvPr/>
        </p:nvSpPr>
        <p:spPr>
          <a:xfrm>
            <a:off x="4818888" y="4526280"/>
            <a:ext cx="2788920" cy="411480"/>
          </a:xfrm>
          <a:prstGeom prst="rect">
            <a:avLst/>
          </a:prstGeom>
          <a:noFill/>
        </p:spPr>
        <p:txBody>
          <a:bodyPr wrap="none" lIns="73152" tIns="27432" rIns="45720" bIns="27432">
            <a:spAutoFit/>
          </a:bodyPr>
          <a:lstStyle/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P2 资源共享与 P3 学科集成可并行</a:t>
            </a:r>
          </a:p>
          <a:p>
            <a:pPr>
              <a:spcAft>
                <a:spcPts val="400"/>
              </a:spcAft>
              <a:defRPr sz="1150">
                <a:solidFill>
                  <a:srgbClr val="111827"/>
                </a:solidFill>
                <a:latin typeface="微软雅黑" panose="020B0503020204020204" charset="-122"/>
              </a:defRPr>
            </a:pPr>
            <a:r>
              <a:t>&gt; P1 可与 P0 后半段部分并行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8522207" y="4178807"/>
            <a:ext cx="3218688" cy="1444752"/>
          </a:xfrm>
          <a:prstGeom prst="roundRect">
            <a:avLst/>
          </a:prstGeom>
          <a:solidFill>
            <a:srgbClr val="D9E2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ounded Rectangle 59"/>
          <p:cNvSpPr/>
          <p:nvPr/>
        </p:nvSpPr>
        <p:spPr>
          <a:xfrm>
            <a:off x="8485632" y="4133087"/>
            <a:ext cx="3218688" cy="1444752"/>
          </a:xfrm>
          <a:prstGeom prst="roundRect">
            <a:avLst/>
          </a:prstGeom>
          <a:solidFill>
            <a:srgbClr val="FFFFFF"/>
          </a:solidFill>
          <a:ln w="13970">
            <a:solidFill>
              <a:srgbClr val="1F4F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ounded Rectangle 60"/>
          <p:cNvSpPr/>
          <p:nvPr/>
        </p:nvSpPr>
        <p:spPr>
          <a:xfrm>
            <a:off x="9111996" y="3968496"/>
            <a:ext cx="1965960" cy="420624"/>
          </a:xfrm>
          <a:prstGeom prst="roundRect">
            <a:avLst/>
          </a:prstGeom>
          <a:solidFill>
            <a:srgbClr val="1764A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111996" y="4041648"/>
            <a:ext cx="1965960" cy="256032"/>
          </a:xfrm>
          <a:prstGeom prst="rect">
            <a:avLst/>
          </a:prstGeom>
          <a:noFill/>
        </p:spPr>
        <p:txBody>
          <a:bodyPr wrap="none" lIns="0" tIns="0" rIns="0" bIns="0" anchor="ctr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微软雅黑" panose="020B0503020204020204" charset="-122"/>
              </a:rPr>
              <a:t>最终形态</a:t>
            </a:r>
            <a:endParaRPr sz="1800" b="1" i="0">
              <a:solidFill>
                <a:srgbClr val="FFFFFF"/>
              </a:solidFill>
              <a:latin typeface="微软雅黑" panose="020B0503020204020204" charset="-122"/>
            </a:endParaRPr>
          </a:p>
        </p:txBody>
      </p:sp>
      <p:sp>
        <p:nvSpPr>
          <p:cNvPr id="63" name="TextBox 62"/>
          <p:cNvSpPr txBox="1"/>
          <p:nvPr/>
        </p:nvSpPr>
        <p:spPr>
          <a:xfrm>
            <a:off x="8915400" y="4526280"/>
            <a:ext cx="2377440" cy="51206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600" b="1" i="0">
                <a:solidFill>
                  <a:srgbClr val="1F4F99"/>
                </a:solidFill>
                <a:latin typeface="微软雅黑" panose="020B0503020204020204" charset="-122"/>
              </a:rPr>
              <a:t>从权益反馈工具
演进为学生事务协同平台</a:t>
            </a:r>
            <a:endParaRPr sz="1600" b="1" i="0">
              <a:solidFill>
                <a:srgbClr val="1F4F99"/>
              </a:solidFill>
              <a:latin typeface="微软雅黑" panose="020B0503020204020204" charset="-122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2651760" y="6108192"/>
            <a:ext cx="6903720" cy="2011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algn="ctr"/>
            <a:r>
              <a:rPr sz="1450" b="0" i="0">
                <a:solidFill>
                  <a:srgbClr val="5D6B82"/>
                </a:solidFill>
                <a:latin typeface="微软雅黑" panose="020B0503020204020204" charset="-122"/>
              </a:rPr>
              <a:t>优先级原则：先降技术债，再做新功能；先院级闭环，再校级扩展。</a:t>
            </a:r>
            <a:endParaRPr sz="1450" b="0" i="0">
              <a:solidFill>
                <a:srgbClr val="5D6B82"/>
              </a:solidFill>
              <a:latin typeface="微软雅黑" panose="020B0503020204020204" charset="-122"/>
            </a:endParaRPr>
          </a:p>
        </p:txBody>
      </p:sp>
      <p:grpSp>
        <p:nvGrpSpPr>
          <p:cNvPr id="65" name="组合 64"/>
          <p:cNvGrpSpPr/>
          <p:nvPr/>
        </p:nvGrpSpPr>
        <p:grpSpPr>
          <a:xfrm>
            <a:off x="8691880" y="192405"/>
            <a:ext cx="3362325" cy="922020"/>
            <a:chOff x="12833" y="55"/>
            <a:chExt cx="5372" cy="1582"/>
          </a:xfrm>
        </p:grpSpPr>
        <p:pic>
          <p:nvPicPr>
            <p:cNvPr id="66" name="图片 65" descr="图片1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12833" y="171"/>
              <a:ext cx="3790" cy="1058"/>
            </a:xfrm>
            <a:prstGeom prst="rect">
              <a:avLst/>
            </a:prstGeom>
          </p:spPr>
        </p:pic>
        <p:pic>
          <p:nvPicPr>
            <p:cNvPr id="67" name="图片 66" descr="SIE_LOGO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16623" y="55"/>
              <a:ext cx="1583" cy="1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2424</Words>
  <Application>WPS 演示</Application>
  <PresentationFormat>On-screen Show (4:3)</PresentationFormat>
  <Paragraphs>403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7" baseType="lpstr">
      <vt:lpstr>Arial</vt:lpstr>
      <vt:lpstr>宋体</vt:lpstr>
      <vt:lpstr>Wingdings</vt:lpstr>
      <vt:lpstr>Arial</vt:lpstr>
      <vt:lpstr>微软雅黑</vt:lpstr>
      <vt:lpstr>Calibri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赵启涵</cp:lastModifiedBy>
  <cp:revision>2</cp:revision>
  <dcterms:created xsi:type="dcterms:W3CDTF">2013-01-27T09:14:00Z</dcterms:created>
  <dcterms:modified xsi:type="dcterms:W3CDTF">2026-07-22T11:46:26Z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2052-12.1.0.26899</vt:lpwstr>
  </property>
  <property fmtid="{D5CDD505-2E9C-101B-9397-08002B2CF9AE}" pid="3" name="ICV">
    <vt:lpwstr>69B6EC02399A422DBBBDB66196F63152_12</vt:lpwstr>
  </property>
</Properties>
</file>